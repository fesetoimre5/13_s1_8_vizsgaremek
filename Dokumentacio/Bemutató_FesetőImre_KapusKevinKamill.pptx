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7" r:id="rId4"/>
    <p:sldId id="268" r:id="rId5"/>
    <p:sldId id="258" r:id="rId6"/>
    <p:sldId id="259" r:id="rId7"/>
    <p:sldId id="263" r:id="rId8"/>
    <p:sldId id="264" r:id="rId9"/>
    <p:sldId id="260" r:id="rId10"/>
    <p:sldId id="261" r:id="rId11"/>
    <p:sldId id="262" r:id="rId12"/>
    <p:sldId id="269" r:id="rId13"/>
    <p:sldId id="272" r:id="rId14"/>
    <p:sldId id="265" r:id="rId15"/>
    <p:sldId id="270" r:id="rId16"/>
    <p:sldId id="271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ím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0C357866-75F5-1E85-805E-5432E3B6D50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hu-HU"/>
              <a:t>Mintacím szerkesztése</a:t>
            </a:r>
            <a:endParaRPr lang="en-US"/>
          </a:p>
        </p:txBody>
      </p:sp>
      <p:sp>
        <p:nvSpPr>
          <p:cNvPr id="3" name="Alcím 2">
            <a:extLst>
              <a:ext uri="{FF2B5EF4-FFF2-40B4-BE49-F238E27FC236}">
                <a16:creationId xmlns:a16="http://schemas.microsoft.com/office/drawing/2014/main" id="{52F5900A-ECDE-E330-B25D-2D266A9BFD3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hu-HU"/>
              <a:t>Kattintson ide az alcím mintájának szerkesztéséhez</a:t>
            </a:r>
            <a:endParaRPr lang="en-US"/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A495758C-14EA-5D6F-CDFA-EE97C59C0D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489980-8C40-4A7C-B87C-A79389D5BD9E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B50AFC13-BC10-BEC6-C6F0-0B3ECCEFAA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D6C5A3CA-8D1B-202C-A302-7DD837CBA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B15B6D-5F44-469D-B565-7E3A5A37E9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63764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ím és tartal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076BB48E-08B9-13C8-5A14-79C3B24722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  <a:endParaRPr lang="en-US"/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F9D65A8E-B382-FDA1-2B5D-0C753657CD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/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C910889E-255D-B696-204B-88ABFCD6B3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489980-8C40-4A7C-B87C-A79389D5BD9E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0D8F06FE-E1B6-AC3D-39BA-6381FD8B0C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A12AF76B-7A17-E5E7-406A-A09615CABC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B15B6D-5F44-469D-B565-7E3A5A37E9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87903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zakaszfejlé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B17A083E-887A-9000-7CF2-063A21B1BB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hu-HU"/>
              <a:t>Mintacím szerkesztése</a:t>
            </a:r>
            <a:endParaRPr lang="en-US"/>
          </a:p>
        </p:txBody>
      </p:sp>
      <p:sp>
        <p:nvSpPr>
          <p:cNvPr id="3" name="Szöveg helye 2">
            <a:extLst>
              <a:ext uri="{FF2B5EF4-FFF2-40B4-BE49-F238E27FC236}">
                <a16:creationId xmlns:a16="http://schemas.microsoft.com/office/drawing/2014/main" id="{EC244AC7-1EF3-D2F0-A72A-3BFF2CBEE96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70EB6109-EAAB-3A6B-DEAD-E7A23EBE14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489980-8C40-4A7C-B87C-A79389D5BD9E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340C9346-0235-C329-A164-BF13BC2DD9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D900A09E-A592-A900-8E1D-8B430AFA27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B15B6D-5F44-469D-B565-7E3A5A37E9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8155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tartalomrész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6FE48812-626B-6915-691D-31BBA96D82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  <a:endParaRPr lang="en-US"/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26A5B7DA-B165-BF34-4984-942FD440FCF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/>
          </a:p>
        </p:txBody>
      </p:sp>
      <p:sp>
        <p:nvSpPr>
          <p:cNvPr id="4" name="Tartalom helye 3">
            <a:extLst>
              <a:ext uri="{FF2B5EF4-FFF2-40B4-BE49-F238E27FC236}">
                <a16:creationId xmlns:a16="http://schemas.microsoft.com/office/drawing/2014/main" id="{E312A651-99A0-50F2-E7BB-0CDF6F457C6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/>
          </a:p>
        </p:txBody>
      </p:sp>
      <p:sp>
        <p:nvSpPr>
          <p:cNvPr id="5" name="Dátum helye 4">
            <a:extLst>
              <a:ext uri="{FF2B5EF4-FFF2-40B4-BE49-F238E27FC236}">
                <a16:creationId xmlns:a16="http://schemas.microsoft.com/office/drawing/2014/main" id="{B4A7420C-8C59-01EF-4401-59DC80C728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489980-8C40-4A7C-B87C-A79389D5BD9E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6" name="Élőláb helye 5">
            <a:extLst>
              <a:ext uri="{FF2B5EF4-FFF2-40B4-BE49-F238E27FC236}">
                <a16:creationId xmlns:a16="http://schemas.microsoft.com/office/drawing/2014/main" id="{139108B1-AC88-8586-39B9-7983814949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Dia számának helye 6">
            <a:extLst>
              <a:ext uri="{FF2B5EF4-FFF2-40B4-BE49-F238E27FC236}">
                <a16:creationId xmlns:a16="http://schemas.microsoft.com/office/drawing/2014/main" id="{A735F86C-03E6-FBCC-22BF-F2090AF939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B15B6D-5F44-469D-B565-7E3A5A37E9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80500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Összehasonlítá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9E35E5DB-7568-A97C-D7D9-492F5719C5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hu-HU"/>
              <a:t>Mintacím szerkesztése</a:t>
            </a:r>
            <a:endParaRPr lang="en-US"/>
          </a:p>
        </p:txBody>
      </p:sp>
      <p:sp>
        <p:nvSpPr>
          <p:cNvPr id="3" name="Szöveg helye 2">
            <a:extLst>
              <a:ext uri="{FF2B5EF4-FFF2-40B4-BE49-F238E27FC236}">
                <a16:creationId xmlns:a16="http://schemas.microsoft.com/office/drawing/2014/main" id="{01017F5B-D714-115B-F39B-8660189218C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Tartalom helye 3">
            <a:extLst>
              <a:ext uri="{FF2B5EF4-FFF2-40B4-BE49-F238E27FC236}">
                <a16:creationId xmlns:a16="http://schemas.microsoft.com/office/drawing/2014/main" id="{EE9BB637-EBF2-5ECE-9E4E-10010EA40C3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/>
          </a:p>
        </p:txBody>
      </p:sp>
      <p:sp>
        <p:nvSpPr>
          <p:cNvPr id="5" name="Szöveg helye 4">
            <a:extLst>
              <a:ext uri="{FF2B5EF4-FFF2-40B4-BE49-F238E27FC236}">
                <a16:creationId xmlns:a16="http://schemas.microsoft.com/office/drawing/2014/main" id="{383CC896-3359-9A36-CBE4-AB1A8579C36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6" name="Tartalom helye 5">
            <a:extLst>
              <a:ext uri="{FF2B5EF4-FFF2-40B4-BE49-F238E27FC236}">
                <a16:creationId xmlns:a16="http://schemas.microsoft.com/office/drawing/2014/main" id="{AC1CF64A-FF24-95AA-EE32-A0871E24ED7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/>
          </a:p>
        </p:txBody>
      </p:sp>
      <p:sp>
        <p:nvSpPr>
          <p:cNvPr id="7" name="Dátum helye 6">
            <a:extLst>
              <a:ext uri="{FF2B5EF4-FFF2-40B4-BE49-F238E27FC236}">
                <a16:creationId xmlns:a16="http://schemas.microsoft.com/office/drawing/2014/main" id="{9A2511C3-A05F-1E62-30BE-DCF1A39F54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489980-8C40-4A7C-B87C-A79389D5BD9E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8" name="Élőláb helye 7">
            <a:extLst>
              <a:ext uri="{FF2B5EF4-FFF2-40B4-BE49-F238E27FC236}">
                <a16:creationId xmlns:a16="http://schemas.microsoft.com/office/drawing/2014/main" id="{04022FC5-20DF-1086-851A-2CE481B8FF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Dia számának helye 8">
            <a:extLst>
              <a:ext uri="{FF2B5EF4-FFF2-40B4-BE49-F238E27FC236}">
                <a16:creationId xmlns:a16="http://schemas.microsoft.com/office/drawing/2014/main" id="{704D48E7-9108-E5C8-8D80-6AB89CF737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B15B6D-5F44-469D-B565-7E3A5A37E9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98616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Csak cí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0D95D5B8-B716-6A8F-4819-671CE91A4F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  <a:endParaRPr lang="en-US"/>
          </a:p>
        </p:txBody>
      </p:sp>
      <p:sp>
        <p:nvSpPr>
          <p:cNvPr id="3" name="Dátum helye 2">
            <a:extLst>
              <a:ext uri="{FF2B5EF4-FFF2-40B4-BE49-F238E27FC236}">
                <a16:creationId xmlns:a16="http://schemas.microsoft.com/office/drawing/2014/main" id="{EEE02700-3525-69E4-A4C9-A45ADED649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489980-8C40-4A7C-B87C-A79389D5BD9E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4" name="Élőláb helye 3">
            <a:extLst>
              <a:ext uri="{FF2B5EF4-FFF2-40B4-BE49-F238E27FC236}">
                <a16:creationId xmlns:a16="http://schemas.microsoft.com/office/drawing/2014/main" id="{74BFF6B8-06BD-E3CD-1F8A-13DA7CD23A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Dia számának helye 4">
            <a:extLst>
              <a:ext uri="{FF2B5EF4-FFF2-40B4-BE49-F238E27FC236}">
                <a16:creationId xmlns:a16="http://schemas.microsoft.com/office/drawing/2014/main" id="{9A7B4BA1-B5EE-72E2-3D6A-F69B953966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B15B6D-5F44-469D-B565-7E3A5A37E9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97676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Ü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átum helye 1">
            <a:extLst>
              <a:ext uri="{FF2B5EF4-FFF2-40B4-BE49-F238E27FC236}">
                <a16:creationId xmlns:a16="http://schemas.microsoft.com/office/drawing/2014/main" id="{9EA14E2F-22D5-CBBF-C8A8-B60D771438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489980-8C40-4A7C-B87C-A79389D5BD9E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3" name="Élőláb helye 2">
            <a:extLst>
              <a:ext uri="{FF2B5EF4-FFF2-40B4-BE49-F238E27FC236}">
                <a16:creationId xmlns:a16="http://schemas.microsoft.com/office/drawing/2014/main" id="{1268D8EA-71AC-C6E1-656A-87E8811FCA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ia számának helye 3">
            <a:extLst>
              <a:ext uri="{FF2B5EF4-FFF2-40B4-BE49-F238E27FC236}">
                <a16:creationId xmlns:a16="http://schemas.microsoft.com/office/drawing/2014/main" id="{BF87ED71-9A7D-6415-6804-C747517B2C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B15B6D-5F44-469D-B565-7E3A5A37E9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63350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Tartalomrész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DB0ACA0A-5764-06FB-B135-6DF8D25990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u-HU"/>
              <a:t>Mintacím szerkesztése</a:t>
            </a:r>
            <a:endParaRPr lang="en-US"/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736EF96B-69D3-C694-5C28-5901FEA1A8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/>
          </a:p>
        </p:txBody>
      </p:sp>
      <p:sp>
        <p:nvSpPr>
          <p:cNvPr id="4" name="Szöveg helye 3">
            <a:extLst>
              <a:ext uri="{FF2B5EF4-FFF2-40B4-BE49-F238E27FC236}">
                <a16:creationId xmlns:a16="http://schemas.microsoft.com/office/drawing/2014/main" id="{C039BF09-A7EE-245A-A4C3-B37090FD79F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átum helye 4">
            <a:extLst>
              <a:ext uri="{FF2B5EF4-FFF2-40B4-BE49-F238E27FC236}">
                <a16:creationId xmlns:a16="http://schemas.microsoft.com/office/drawing/2014/main" id="{D1957270-62F4-2179-1A4C-FE1257BE8F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489980-8C40-4A7C-B87C-A79389D5BD9E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6" name="Élőláb helye 5">
            <a:extLst>
              <a:ext uri="{FF2B5EF4-FFF2-40B4-BE49-F238E27FC236}">
                <a16:creationId xmlns:a16="http://schemas.microsoft.com/office/drawing/2014/main" id="{7993AEDF-E2F6-4D83-4623-6EA325FA73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Dia számának helye 6">
            <a:extLst>
              <a:ext uri="{FF2B5EF4-FFF2-40B4-BE49-F238E27FC236}">
                <a16:creationId xmlns:a16="http://schemas.microsoft.com/office/drawing/2014/main" id="{2F979607-15DD-74B7-213A-2D293B0751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B15B6D-5F44-469D-B565-7E3A5A37E9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57564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Kép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412A5E09-6E7E-099D-2B2C-AE7B36BB0D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u-HU"/>
              <a:t>Mintacím szerkesztése</a:t>
            </a:r>
            <a:endParaRPr lang="en-US"/>
          </a:p>
        </p:txBody>
      </p:sp>
      <p:sp>
        <p:nvSpPr>
          <p:cNvPr id="3" name="Kép helye 2">
            <a:extLst>
              <a:ext uri="{FF2B5EF4-FFF2-40B4-BE49-F238E27FC236}">
                <a16:creationId xmlns:a16="http://schemas.microsoft.com/office/drawing/2014/main" id="{2F02CCA7-FA03-B172-156F-49A01C2ACD9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Szöveg helye 3">
            <a:extLst>
              <a:ext uri="{FF2B5EF4-FFF2-40B4-BE49-F238E27FC236}">
                <a16:creationId xmlns:a16="http://schemas.microsoft.com/office/drawing/2014/main" id="{76179A05-B4D1-EC97-C750-FABA191D363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átum helye 4">
            <a:extLst>
              <a:ext uri="{FF2B5EF4-FFF2-40B4-BE49-F238E27FC236}">
                <a16:creationId xmlns:a16="http://schemas.microsoft.com/office/drawing/2014/main" id="{42936066-DAE5-0EF8-89DB-D3DE0C50E7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489980-8C40-4A7C-B87C-A79389D5BD9E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6" name="Élőláb helye 5">
            <a:extLst>
              <a:ext uri="{FF2B5EF4-FFF2-40B4-BE49-F238E27FC236}">
                <a16:creationId xmlns:a16="http://schemas.microsoft.com/office/drawing/2014/main" id="{2DCBF669-E94E-DCF8-6A23-B525BF394F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Dia számának helye 6">
            <a:extLst>
              <a:ext uri="{FF2B5EF4-FFF2-40B4-BE49-F238E27FC236}">
                <a16:creationId xmlns:a16="http://schemas.microsoft.com/office/drawing/2014/main" id="{8E3A4B35-45FD-B833-35C6-0FAB894F6D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B15B6D-5F44-469D-B565-7E3A5A37E9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32281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Cím és függőlege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AA933A06-9807-D854-451E-62EFAA1446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  <a:endParaRPr lang="en-US"/>
          </a:p>
        </p:txBody>
      </p:sp>
      <p:sp>
        <p:nvSpPr>
          <p:cNvPr id="3" name="Függőleges szöveg helye 2">
            <a:extLst>
              <a:ext uri="{FF2B5EF4-FFF2-40B4-BE49-F238E27FC236}">
                <a16:creationId xmlns:a16="http://schemas.microsoft.com/office/drawing/2014/main" id="{5D4BCCEC-40AC-6C99-8ED7-3F93AD4A2ED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/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E7E8C9CE-05C5-6771-36CA-9DF5D21EBF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489980-8C40-4A7C-B87C-A79389D5BD9E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13042708-06ED-049E-349B-FA2ACFB6B9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736287A2-9B5C-8815-1B1F-01E75D5C41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B15B6D-5F44-469D-B565-7E3A5A37E9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90857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Függőleges cím é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üggőleges cím 1">
            <a:extLst>
              <a:ext uri="{FF2B5EF4-FFF2-40B4-BE49-F238E27FC236}">
                <a16:creationId xmlns:a16="http://schemas.microsoft.com/office/drawing/2014/main" id="{F915423C-A8AA-F072-50D5-5E3AAF53EE6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hu-HU"/>
              <a:t>Mintacím szerkesztése</a:t>
            </a:r>
            <a:endParaRPr lang="en-US"/>
          </a:p>
        </p:txBody>
      </p:sp>
      <p:sp>
        <p:nvSpPr>
          <p:cNvPr id="3" name="Függőleges szöveg helye 2">
            <a:extLst>
              <a:ext uri="{FF2B5EF4-FFF2-40B4-BE49-F238E27FC236}">
                <a16:creationId xmlns:a16="http://schemas.microsoft.com/office/drawing/2014/main" id="{1D20373E-B9C9-6685-4EEC-203AE6BD6CF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/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F6AF8148-05B1-BF60-CECA-1EBB8C8770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489980-8C40-4A7C-B87C-A79389D5BD9E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E410BEBD-4C17-FC88-B1D6-5A1D9DED73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103147C4-9331-F2EC-0211-7AAC73DF10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B15B6D-5F44-469D-B565-7E3A5A37E9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47258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helye 1">
            <a:extLst>
              <a:ext uri="{FF2B5EF4-FFF2-40B4-BE49-F238E27FC236}">
                <a16:creationId xmlns:a16="http://schemas.microsoft.com/office/drawing/2014/main" id="{3447875F-BAF6-963A-48E9-FA79B33F6B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hu-HU"/>
              <a:t>Mintacím szerkesztése</a:t>
            </a:r>
            <a:endParaRPr lang="en-US"/>
          </a:p>
        </p:txBody>
      </p:sp>
      <p:sp>
        <p:nvSpPr>
          <p:cNvPr id="3" name="Szöveg helye 2">
            <a:extLst>
              <a:ext uri="{FF2B5EF4-FFF2-40B4-BE49-F238E27FC236}">
                <a16:creationId xmlns:a16="http://schemas.microsoft.com/office/drawing/2014/main" id="{3B256A38-C1F0-590B-6ACA-EA75C3AEEB8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/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99F4DE90-B5F2-1D80-1D58-BFAB4745091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0489980-8C40-4A7C-B87C-A79389D5BD9E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88A9ACD9-6FEA-031D-E8AC-947BB14DE2E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DAB999D1-FBA4-AFBC-EB99-64BD5B6373B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9B15B6D-5F44-469D-B565-7E3A5A37E9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45749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jpg"/></Relationships>
</file>

<file path=ppt/slides/_rels/slide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7" Type="http://schemas.microsoft.com/office/2007/relationships/hdphoto" Target="../media/hdphoto3.wdp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microsoft.com/office/2007/relationships/hdphoto" Target="../media/hdphoto2.wdp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3301E07F-4F79-4B58-8698-EF24DC1ECD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7" name="Arc 16">
            <a:extLst>
              <a:ext uri="{FF2B5EF4-FFF2-40B4-BE49-F238E27FC236}">
                <a16:creationId xmlns:a16="http://schemas.microsoft.com/office/drawing/2014/main" id="{E58B2195-5055-402F-A3E7-53FF0E4980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525836" y="775849"/>
            <a:ext cx="2987899" cy="2987899"/>
          </a:xfrm>
          <a:prstGeom prst="arc">
            <a:avLst>
              <a:gd name="adj1" fmla="val 14441841"/>
              <a:gd name="adj2" fmla="val 0"/>
            </a:avLst>
          </a:prstGeom>
          <a:ln w="127000" cap="rnd">
            <a:solidFill>
              <a:schemeClr val="accent4"/>
            </a:solidFill>
            <a:prstDash val="dash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Alcím 2">
            <a:extLst>
              <a:ext uri="{FF2B5EF4-FFF2-40B4-BE49-F238E27FC236}">
                <a16:creationId xmlns:a16="http://schemas.microsoft.com/office/drawing/2014/main" id="{2D9053FA-3283-4FAA-064D-5332D10D3E7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184710" y="1051834"/>
            <a:ext cx="2331327" cy="439270"/>
          </a:xfrm>
        </p:spPr>
        <p:txBody>
          <a:bodyPr>
            <a:normAutofit/>
          </a:bodyPr>
          <a:lstStyle/>
          <a:p>
            <a:r>
              <a:rPr lang="hu-HU" dirty="0">
                <a:solidFill>
                  <a:srgbClr val="FFFFFF"/>
                </a:solidFill>
              </a:rPr>
              <a:t>Készítették:</a:t>
            </a:r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9EE6F773-742A-491A-9A00-A2A150DF50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4368" y="366810"/>
            <a:ext cx="6124381" cy="6124381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Ábra 4">
            <a:extLst>
              <a:ext uri="{FF2B5EF4-FFF2-40B4-BE49-F238E27FC236}">
                <a16:creationId xmlns:a16="http://schemas.microsoft.com/office/drawing/2014/main" id="{9E90E75E-1151-4DA5-DCD4-168996382F4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39673" y="2651056"/>
            <a:ext cx="6013769" cy="1555887"/>
          </a:xfrm>
          <a:custGeom>
            <a:avLst/>
            <a:gdLst/>
            <a:ahLst/>
            <a:cxnLst/>
            <a:rect l="l" t="t" r="r" b="b"/>
            <a:pathLst>
              <a:path w="4273177" h="4470400">
                <a:moveTo>
                  <a:pt x="75080" y="0"/>
                </a:moveTo>
                <a:lnTo>
                  <a:pt x="4198097" y="0"/>
                </a:lnTo>
                <a:cubicBezTo>
                  <a:pt x="4239563" y="0"/>
                  <a:pt x="4273177" y="33614"/>
                  <a:pt x="4273177" y="75080"/>
                </a:cubicBezTo>
                <a:lnTo>
                  <a:pt x="4273177" y="4395320"/>
                </a:lnTo>
                <a:cubicBezTo>
                  <a:pt x="4273177" y="4436786"/>
                  <a:pt x="4239563" y="4470400"/>
                  <a:pt x="4198097" y="4470400"/>
                </a:cubicBezTo>
                <a:lnTo>
                  <a:pt x="75080" y="4470400"/>
                </a:lnTo>
                <a:cubicBezTo>
                  <a:pt x="33614" y="4470400"/>
                  <a:pt x="0" y="4436786"/>
                  <a:pt x="0" y="4395320"/>
                </a:cubicBezTo>
                <a:lnTo>
                  <a:pt x="0" y="75080"/>
                </a:lnTo>
                <a:cubicBezTo>
                  <a:pt x="0" y="33614"/>
                  <a:pt x="33614" y="0"/>
                  <a:pt x="75080" y="0"/>
                </a:cubicBezTo>
                <a:close/>
              </a:path>
            </a:pathLst>
          </a:custGeom>
        </p:spPr>
      </p:pic>
      <p:pic>
        <p:nvPicPr>
          <p:cNvPr id="4" name="Kép 3">
            <a:extLst>
              <a:ext uri="{FF2B5EF4-FFF2-40B4-BE49-F238E27FC236}">
                <a16:creationId xmlns:a16="http://schemas.microsoft.com/office/drawing/2014/main" id="{05E264C1-8C10-4C84-9B3F-8A527F44BA5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78568" y="1654241"/>
            <a:ext cx="2012284" cy="2980737"/>
          </a:xfrm>
          <a:prstGeom prst="rect">
            <a:avLst/>
          </a:prstGeom>
        </p:spPr>
      </p:pic>
      <p:sp>
        <p:nvSpPr>
          <p:cNvPr id="9" name="Alcím 2">
            <a:extLst>
              <a:ext uri="{FF2B5EF4-FFF2-40B4-BE49-F238E27FC236}">
                <a16:creationId xmlns:a16="http://schemas.microsoft.com/office/drawing/2014/main" id="{834699FE-3646-4E2F-A870-49DC649969A5}"/>
              </a:ext>
            </a:extLst>
          </p:cNvPr>
          <p:cNvSpPr txBox="1">
            <a:spLocks/>
          </p:cNvSpPr>
          <p:nvPr/>
        </p:nvSpPr>
        <p:spPr>
          <a:xfrm>
            <a:off x="7178568" y="4675320"/>
            <a:ext cx="2012284" cy="33595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hu-HU" sz="1600" dirty="0">
                <a:solidFill>
                  <a:srgbClr val="FFFFFF"/>
                </a:solidFill>
              </a:rPr>
              <a:t>Fesető Imre</a:t>
            </a:r>
            <a:endParaRPr lang="en-US" sz="1600" dirty="0">
              <a:solidFill>
                <a:srgbClr val="FFFFFF"/>
              </a:solidFill>
            </a:endParaRPr>
          </a:p>
        </p:txBody>
      </p:sp>
      <p:sp>
        <p:nvSpPr>
          <p:cNvPr id="10" name="Alcím 2">
            <a:extLst>
              <a:ext uri="{FF2B5EF4-FFF2-40B4-BE49-F238E27FC236}">
                <a16:creationId xmlns:a16="http://schemas.microsoft.com/office/drawing/2014/main" id="{C17B1F76-80AF-4AF2-9D84-722FABB41011}"/>
              </a:ext>
            </a:extLst>
          </p:cNvPr>
          <p:cNvSpPr txBox="1">
            <a:spLocks/>
          </p:cNvSpPr>
          <p:nvPr/>
        </p:nvSpPr>
        <p:spPr>
          <a:xfrm>
            <a:off x="9531977" y="4675320"/>
            <a:ext cx="2022617" cy="33595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hu-HU" sz="1600" dirty="0">
                <a:solidFill>
                  <a:srgbClr val="FFFFFF"/>
                </a:solidFill>
              </a:rPr>
              <a:t>Kapus Kamill Kevin</a:t>
            </a:r>
            <a:endParaRPr lang="en-US" sz="1600" dirty="0">
              <a:solidFill>
                <a:srgbClr val="FFFFFF"/>
              </a:solidFill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23518355-A7BF-719A-02D9-8B16A6496BB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31977" y="1654240"/>
            <a:ext cx="2022617" cy="29807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31517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Kép 4">
            <a:extLst>
              <a:ext uri="{FF2B5EF4-FFF2-40B4-BE49-F238E27FC236}">
                <a16:creationId xmlns:a16="http://schemas.microsoft.com/office/drawing/2014/main" id="{645DC2CF-2687-4F0C-94CB-34C91A014DC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Blur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-1324198" y="319088"/>
            <a:ext cx="13443262" cy="6171712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1000"/>
                  <a:lumMod val="0"/>
                  <a:lumOff val="100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16200000" scaled="1"/>
            <a:tileRect/>
          </a:gradFill>
          <a:ln w="47625" cap="rnd"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62000">
                  <a:schemeClr val="accent2"/>
                </a:gs>
                <a:gs pos="100000">
                  <a:schemeClr val="accent2"/>
                </a:gs>
              </a:gsLst>
              <a:lin ang="0" scaled="0"/>
            </a:gradFill>
          </a:ln>
          <a:effectLst/>
        </p:spPr>
      </p:pic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167271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Cím 1">
            <a:extLst>
              <a:ext uri="{FF2B5EF4-FFF2-40B4-BE49-F238E27FC236}">
                <a16:creationId xmlns:a16="http://schemas.microsoft.com/office/drawing/2014/main" id="{8ACC8BAC-E692-4575-74A4-050F1D3DB5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4160" y="1153572"/>
            <a:ext cx="3623074" cy="4461163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rgbClr val="FFFFFF"/>
                </a:solidFill>
              </a:rPr>
              <a:t>A </a:t>
            </a:r>
            <a:r>
              <a:rPr lang="en-US" dirty="0" err="1">
                <a:solidFill>
                  <a:srgbClr val="FFFFFF"/>
                </a:solidFill>
              </a:rPr>
              <a:t>probléma</a:t>
            </a:r>
            <a:r>
              <a:rPr lang="en-US" dirty="0">
                <a:solidFill>
                  <a:srgbClr val="FFFFFF"/>
                </a:solidFill>
              </a:rPr>
              <a:t> </a:t>
            </a:r>
            <a:r>
              <a:rPr lang="en-US" dirty="0" err="1">
                <a:solidFill>
                  <a:srgbClr val="FFFFFF"/>
                </a:solidFill>
              </a:rPr>
              <a:t>és</a:t>
            </a:r>
            <a:r>
              <a:rPr lang="en-US" dirty="0">
                <a:solidFill>
                  <a:srgbClr val="FFFFFF"/>
                </a:solidFill>
              </a:rPr>
              <a:t> a </a:t>
            </a:r>
            <a:r>
              <a:rPr lang="en-US" dirty="0" err="1">
                <a:solidFill>
                  <a:srgbClr val="FFFFFF"/>
                </a:solidFill>
              </a:rPr>
              <a:t>megoldás</a:t>
            </a:r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7550402" y="245547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B8492F3E-4C9A-B470-2734-12545BC71A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48346" y="3288145"/>
            <a:ext cx="7868163" cy="3202655"/>
          </a:xfrm>
        </p:spPr>
        <p:txBody>
          <a:bodyPr anchor="ctr">
            <a:noAutofit/>
          </a:bodyPr>
          <a:lstStyle/>
          <a:p>
            <a:pPr>
              <a:buFontTx/>
              <a:buChar char="-"/>
            </a:pPr>
            <a:r>
              <a:rPr lang="hu-HU" sz="2400" dirty="0">
                <a:solidFill>
                  <a:schemeClr val="bg1"/>
                </a:solidFill>
              </a:rPr>
              <a:t>Probléma: A feladatok kezelése gyakran átláthatatlan, több különálló alkalmazásra van szükség.</a:t>
            </a:r>
            <a:endParaRPr lang="en-US" sz="2400" dirty="0">
              <a:solidFill>
                <a:schemeClr val="bg1"/>
              </a:solidFill>
            </a:endParaRPr>
          </a:p>
          <a:p>
            <a:pPr>
              <a:buFontTx/>
              <a:buChar char="-"/>
            </a:pPr>
            <a:r>
              <a:rPr lang="hu-HU" sz="2400" dirty="0">
                <a:solidFill>
                  <a:schemeClr val="bg1"/>
                </a:solidFill>
              </a:rPr>
              <a:t>Megoldás: </a:t>
            </a:r>
            <a:r>
              <a:rPr lang="hu-HU" sz="2400" dirty="0" err="1">
                <a:solidFill>
                  <a:schemeClr val="bg1"/>
                </a:solidFill>
              </a:rPr>
              <a:t>Calentasker</a:t>
            </a:r>
            <a:r>
              <a:rPr lang="hu-HU" sz="2400" dirty="0">
                <a:solidFill>
                  <a:schemeClr val="bg1"/>
                </a:solidFill>
              </a:rPr>
              <a:t> - központi platform a teendőkhöz.</a:t>
            </a:r>
            <a:endParaRPr lang="en-US" sz="2400" dirty="0">
              <a:solidFill>
                <a:schemeClr val="bg1"/>
              </a:solidFill>
            </a:endParaRPr>
          </a:p>
          <a:p>
            <a:pPr>
              <a:buFontTx/>
              <a:buChar char="-"/>
            </a:pPr>
            <a:r>
              <a:rPr lang="hu-HU" sz="2400" dirty="0">
                <a:solidFill>
                  <a:schemeClr val="bg1"/>
                </a:solidFill>
              </a:rPr>
              <a:t>Személyes és csoportos feladatok egy helyen.</a:t>
            </a:r>
            <a:endParaRPr lang="en-US" sz="2400" dirty="0">
              <a:solidFill>
                <a:schemeClr val="bg1"/>
              </a:solidFill>
            </a:endParaRPr>
          </a:p>
          <a:p>
            <a:pPr>
              <a:buFontTx/>
              <a:buChar char="-"/>
            </a:pPr>
            <a:r>
              <a:rPr lang="hu-HU" sz="2400" dirty="0">
                <a:solidFill>
                  <a:schemeClr val="bg1"/>
                </a:solidFill>
              </a:rPr>
              <a:t>Zökkenőmentes csoportos együttműködés.</a:t>
            </a:r>
            <a:endParaRPr lang="en-US" sz="2400" dirty="0">
              <a:solidFill>
                <a:schemeClr val="bg1"/>
              </a:solidFill>
            </a:endParaRPr>
          </a:p>
        </p:txBody>
      </p:sp>
      <p:pic>
        <p:nvPicPr>
          <p:cNvPr id="2050" name="Picture 2" descr="Trello: Organize anything! – Apps on Google Play">
            <a:extLst>
              <a:ext uri="{FF2B5EF4-FFF2-40B4-BE49-F238E27FC236}">
                <a16:creationId xmlns:a16="http://schemas.microsoft.com/office/drawing/2014/main" id="{E047D04C-B7FA-4ECF-B77D-15ADD34429B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20436690">
            <a:off x="4391727" y="600175"/>
            <a:ext cx="1630849" cy="16308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Calendar | macOS Icon Gallery">
            <a:extLst>
              <a:ext uri="{FF2B5EF4-FFF2-40B4-BE49-F238E27FC236}">
                <a16:creationId xmlns:a16="http://schemas.microsoft.com/office/drawing/2014/main" id="{84282F4B-0BE6-4901-9BBA-F943103BE00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455421">
            <a:off x="5002437" y="1213281"/>
            <a:ext cx="2187125" cy="2187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58463768"/>
      </p:ext>
    </p:extLst>
  </p:cSld>
  <p:clrMapOvr>
    <a:masterClrMapping/>
  </p:clrMapOvr>
  <p:transition spd="slow">
    <p:pu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Abs val="5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951"/>
                            </p:stCondLst>
                            <p:childTnLst>
                              <p:par>
                                <p:cTn id="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Abs val="5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602"/>
                            </p:stCondLst>
                            <p:childTnLst>
                              <p:par>
                                <p:cTn id="1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Abs val="50"/>
                                  </p:iterate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2003"/>
                            </p:stCondLst>
                            <p:childTnLst>
                              <p:par>
                                <p:cTn id="1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Abs val="50"/>
                                  </p:iterate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304"/>
                            </p:stCondLst>
                            <p:childTnLst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Abs val="50"/>
                                  </p:iterate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2455"/>
                            </p:stCondLst>
                            <p:childTnLst>
                              <p:par>
                                <p:cTn id="2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0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5" dur="500"/>
                                        <p:tgtEl>
                                          <p:spTgt spid="20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10"/>
                                  </p:iterate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iterate type="wd">
                                    <p:tmAbs val="10"/>
                                  </p:iterate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iterate type="wd">
                                    <p:tmAbs val="10"/>
                                  </p:iterate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iterate type="wd">
                                    <p:tmAbs val="10"/>
                                  </p:iterate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iterate type="wd">
                                    <p:tmAbs val="10"/>
                                  </p:iterate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" presetID="22" presetClass="exit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39" dur="500"/>
                                        <p:tgtEl>
                                          <p:spTgt spid="205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22" presetClass="exit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right)">
                                      <p:cBhvr>
                                        <p:cTn id="42" dur="500"/>
                                        <p:tgtEl>
                                          <p:spTgt spid="205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2" grpId="1"/>
      <p:bldP spid="3" grpId="0" build="p"/>
      <p:bldP spid="3" grpId="1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ABDB131-58DA-CF17-73CE-337E0FD3C5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2CA1B8DA-E8E5-1D8F-8745-1BD13CA98C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0BD7CD91-83DE-5735-9456-72CD089FD6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167271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Cím 1">
            <a:extLst>
              <a:ext uri="{FF2B5EF4-FFF2-40B4-BE49-F238E27FC236}">
                <a16:creationId xmlns:a16="http://schemas.microsoft.com/office/drawing/2014/main" id="{8941A196-2447-0E38-B79D-20493A236F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4320" y="1153572"/>
            <a:ext cx="3612914" cy="4461163"/>
          </a:xfrm>
        </p:spPr>
        <p:txBody>
          <a:bodyPr>
            <a:normAutofit/>
          </a:bodyPr>
          <a:lstStyle/>
          <a:p>
            <a:r>
              <a:rPr lang="en-US" sz="3800" dirty="0" err="1">
                <a:solidFill>
                  <a:srgbClr val="FFFFFF"/>
                </a:solidFill>
              </a:rPr>
              <a:t>Munkamegosztás</a:t>
            </a:r>
            <a:endParaRPr lang="en-US" sz="3800" dirty="0">
              <a:solidFill>
                <a:srgbClr val="FFFFFF"/>
              </a:solidFill>
            </a:endParaRP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9F73529D-D05A-00E0-9BDD-31B8C31D6E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7550402" y="245547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433565C5-1ADF-5BE1-9265-3170CA88FB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82717" y="1850069"/>
            <a:ext cx="3067685" cy="1397766"/>
          </a:xfrm>
        </p:spPr>
        <p:txBody>
          <a:bodyPr anchor="ctr">
            <a:noAutofit/>
          </a:bodyPr>
          <a:lstStyle/>
          <a:p>
            <a:pPr marL="0" indent="0">
              <a:buNone/>
            </a:pPr>
            <a:r>
              <a:rPr lang="hu-HU" sz="2400" dirty="0"/>
              <a:t>Kapus Kevin Kamill:</a:t>
            </a:r>
            <a:endParaRPr lang="en-US" sz="2400" dirty="0"/>
          </a:p>
          <a:p>
            <a:pPr>
              <a:buFontTx/>
              <a:buChar char="-"/>
            </a:pPr>
            <a:r>
              <a:rPr lang="en-US" sz="2400" dirty="0"/>
              <a:t>Frontend</a:t>
            </a:r>
          </a:p>
          <a:p>
            <a:pPr>
              <a:buFontTx/>
              <a:buChar char="-"/>
            </a:pPr>
            <a:r>
              <a:rPr lang="en-US" sz="2400" dirty="0"/>
              <a:t>UI design</a:t>
            </a:r>
          </a:p>
        </p:txBody>
      </p:sp>
      <p:sp>
        <p:nvSpPr>
          <p:cNvPr id="4" name="Tartalom helye 2">
            <a:extLst>
              <a:ext uri="{FF2B5EF4-FFF2-40B4-BE49-F238E27FC236}">
                <a16:creationId xmlns:a16="http://schemas.microsoft.com/office/drawing/2014/main" id="{97ADD8FB-03AD-2290-5EDB-DAE0C5B0BECA}"/>
              </a:ext>
            </a:extLst>
          </p:cNvPr>
          <p:cNvSpPr txBox="1">
            <a:spLocks/>
          </p:cNvSpPr>
          <p:nvPr/>
        </p:nvSpPr>
        <p:spPr>
          <a:xfrm>
            <a:off x="7865847" y="1850069"/>
            <a:ext cx="3067685" cy="139776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400" dirty="0" err="1"/>
              <a:t>Fesető</a:t>
            </a:r>
            <a:r>
              <a:rPr lang="en-US" sz="2400" dirty="0"/>
              <a:t> Imre:</a:t>
            </a:r>
          </a:p>
          <a:p>
            <a:pPr>
              <a:buFontTx/>
              <a:buChar char="-"/>
            </a:pPr>
            <a:r>
              <a:rPr lang="en-US" sz="2400" dirty="0"/>
              <a:t>Backend</a:t>
            </a:r>
          </a:p>
          <a:p>
            <a:pPr>
              <a:buFontTx/>
              <a:buChar char="-"/>
            </a:pPr>
            <a:r>
              <a:rPr lang="en-US" sz="2400" dirty="0" err="1"/>
              <a:t>Adatbázis</a:t>
            </a:r>
            <a:endParaRPr lang="en-US" sz="2400" dirty="0"/>
          </a:p>
        </p:txBody>
      </p:sp>
      <p:sp>
        <p:nvSpPr>
          <p:cNvPr id="6" name="Tartalom helye 2">
            <a:extLst>
              <a:ext uri="{FF2B5EF4-FFF2-40B4-BE49-F238E27FC236}">
                <a16:creationId xmlns:a16="http://schemas.microsoft.com/office/drawing/2014/main" id="{65D547A9-4D42-B148-4854-CCD4532B1013}"/>
              </a:ext>
            </a:extLst>
          </p:cNvPr>
          <p:cNvSpPr txBox="1">
            <a:spLocks/>
          </p:cNvSpPr>
          <p:nvPr/>
        </p:nvSpPr>
        <p:spPr>
          <a:xfrm>
            <a:off x="4438545" y="3642452"/>
            <a:ext cx="4309216" cy="147450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400" dirty="0" err="1"/>
              <a:t>Közös</a:t>
            </a:r>
            <a:r>
              <a:rPr lang="en-US" sz="2400" dirty="0"/>
              <a:t> </a:t>
            </a:r>
            <a:r>
              <a:rPr lang="en-US" sz="2400" dirty="0" err="1"/>
              <a:t>feladatok</a:t>
            </a:r>
            <a:r>
              <a:rPr lang="en-US" sz="2400" dirty="0"/>
              <a:t>:</a:t>
            </a:r>
          </a:p>
          <a:p>
            <a:pPr>
              <a:buFontTx/>
              <a:buChar char="-"/>
            </a:pPr>
            <a:r>
              <a:rPr lang="en-US" sz="2400" dirty="0" err="1"/>
              <a:t>Egymás</a:t>
            </a:r>
            <a:r>
              <a:rPr lang="en-US" sz="2400" dirty="0"/>
              <a:t> </a:t>
            </a:r>
            <a:r>
              <a:rPr lang="en-US" sz="2400" dirty="0" err="1"/>
              <a:t>kódjának</a:t>
            </a:r>
            <a:r>
              <a:rPr lang="en-US" sz="2400" dirty="0"/>
              <a:t> </a:t>
            </a:r>
            <a:r>
              <a:rPr lang="en-US" sz="2400" dirty="0" err="1"/>
              <a:t>átnézése</a:t>
            </a:r>
            <a:endParaRPr lang="en-US" sz="2400" dirty="0"/>
          </a:p>
          <a:p>
            <a:pPr>
              <a:buFontTx/>
              <a:buChar char="-"/>
            </a:pPr>
            <a:r>
              <a:rPr lang="en-US" sz="2400" dirty="0" err="1"/>
              <a:t>Manuális</a:t>
            </a:r>
            <a:r>
              <a:rPr lang="en-US" sz="2400" dirty="0"/>
              <a:t> </a:t>
            </a:r>
            <a:r>
              <a:rPr lang="en-US" sz="2400" dirty="0" err="1"/>
              <a:t>tesztelés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5691487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Abs val="5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651"/>
                            </p:stCondLst>
                            <p:childTnLst>
                              <p:par>
                                <p:cTn id="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Abs val="5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802"/>
                            </p:stCondLst>
                            <p:childTnLst>
                              <p:par>
                                <p:cTn id="1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Abs val="50"/>
                                  </p:iterate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802"/>
                            </p:stCondLst>
                            <p:childTnLst>
                              <p:par>
                                <p:cTn id="1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Abs val="50"/>
                                  </p:iterate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853"/>
                            </p:stCondLst>
                            <p:childTnLst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Abs val="50"/>
                                  </p:iterate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054"/>
                            </p:stCondLst>
                            <p:childTnLst>
                              <p:par>
                                <p:cTn id="2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Abs val="50"/>
                                  </p:iterate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10"/>
                                  </p:iterate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iterate type="wd">
                                    <p:tmAbs val="10"/>
                                  </p:iterate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iterate type="wd">
                                    <p:tmAbs val="10"/>
                                  </p:iterate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iterate type="wd">
                                    <p:tmAbs val="10"/>
                                  </p:iterate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iterate type="wd">
                                    <p:tmAbs val="10"/>
                                  </p:iterate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iterate type="wd">
                                    <p:tmAbs val="10"/>
                                  </p:iterate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2" grpId="1"/>
      <p:bldP spid="3" grpId="0" build="p"/>
      <p:bldP spid="3" grpId="1" build="p"/>
      <p:bldP spid="4" grpId="0"/>
      <p:bldP spid="4" grpId="1"/>
      <p:bldP spid="6" grpId="0"/>
      <p:bldP spid="6" grpId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5C862E0-0052-3D2D-8DF5-6D7284F3C6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34EF4A6-002B-13A8-39A1-91CA8C73D1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827284D0-A075-2E4F-65AE-44113281EC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167271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Cím 1">
            <a:extLst>
              <a:ext uri="{FF2B5EF4-FFF2-40B4-BE49-F238E27FC236}">
                <a16:creationId xmlns:a16="http://schemas.microsoft.com/office/drawing/2014/main" id="{42C23DEB-15CB-8F66-4498-7F7586F578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4320" y="1153572"/>
            <a:ext cx="3612914" cy="4461163"/>
          </a:xfrm>
        </p:spPr>
        <p:txBody>
          <a:bodyPr>
            <a:normAutofit/>
          </a:bodyPr>
          <a:lstStyle/>
          <a:p>
            <a:r>
              <a:rPr lang="en-US" sz="3800" dirty="0" err="1">
                <a:solidFill>
                  <a:srgbClr val="FFFFFF"/>
                </a:solidFill>
              </a:rPr>
              <a:t>Csapatmunka</a:t>
            </a:r>
            <a:r>
              <a:rPr lang="en-US" sz="3800" dirty="0">
                <a:solidFill>
                  <a:srgbClr val="FFFFFF"/>
                </a:solidFill>
              </a:rPr>
              <a:t> </a:t>
            </a:r>
            <a:r>
              <a:rPr lang="en-US" sz="3800" dirty="0" err="1">
                <a:solidFill>
                  <a:srgbClr val="FFFFFF"/>
                </a:solidFill>
              </a:rPr>
              <a:t>és</a:t>
            </a:r>
            <a:r>
              <a:rPr lang="en-US" sz="3800" dirty="0">
                <a:solidFill>
                  <a:srgbClr val="FFFFFF"/>
                </a:solidFill>
              </a:rPr>
              <a:t> </a:t>
            </a:r>
            <a:r>
              <a:rPr lang="en-US" sz="3800" dirty="0" err="1">
                <a:solidFill>
                  <a:srgbClr val="FFFFFF"/>
                </a:solidFill>
              </a:rPr>
              <a:t>kommunikáció</a:t>
            </a:r>
            <a:endParaRPr lang="en-US" sz="3800" dirty="0">
              <a:solidFill>
                <a:srgbClr val="FFFFFF"/>
              </a:solidFill>
            </a:endParaRP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273FEADA-9D3E-3D4B-E805-9B46E848CE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7550402" y="245547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Tartalom helye 2">
            <a:extLst>
              <a:ext uri="{FF2B5EF4-FFF2-40B4-BE49-F238E27FC236}">
                <a16:creationId xmlns:a16="http://schemas.microsoft.com/office/drawing/2014/main" id="{96C353B8-DAE8-8D09-C776-79ECCB9FFC48}"/>
              </a:ext>
            </a:extLst>
          </p:cNvPr>
          <p:cNvSpPr txBox="1">
            <a:spLocks/>
          </p:cNvSpPr>
          <p:nvPr/>
        </p:nvSpPr>
        <p:spPr>
          <a:xfrm>
            <a:off x="4434248" y="1592373"/>
            <a:ext cx="7180964" cy="147450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400" dirty="0"/>
              <a:t>- </a:t>
            </a:r>
            <a:r>
              <a:rPr lang="en-US" sz="2400" dirty="0" err="1"/>
              <a:t>Közös</a:t>
            </a:r>
            <a:r>
              <a:rPr lang="en-US" sz="2400" dirty="0"/>
              <a:t> </a:t>
            </a:r>
            <a:r>
              <a:rPr lang="en-US" sz="2400" dirty="0" err="1"/>
              <a:t>kódolás</a:t>
            </a:r>
            <a:r>
              <a:rPr lang="en-US" sz="2400" dirty="0"/>
              <a:t> </a:t>
            </a:r>
            <a:r>
              <a:rPr lang="en-US" sz="2400" dirty="0" err="1"/>
              <a:t>és</a:t>
            </a:r>
            <a:r>
              <a:rPr lang="en-US" sz="2400" dirty="0"/>
              <a:t> </a:t>
            </a:r>
            <a:r>
              <a:rPr lang="en-US" sz="2400" dirty="0" err="1"/>
              <a:t>verziókövetés</a:t>
            </a:r>
            <a:r>
              <a:rPr lang="en-US" sz="2400" dirty="0"/>
              <a:t>: GitHub</a:t>
            </a:r>
          </a:p>
          <a:p>
            <a:pPr marL="0" indent="0">
              <a:buNone/>
            </a:pPr>
            <a:r>
              <a:rPr lang="en-US" sz="2400" dirty="0"/>
              <a:t>- </a:t>
            </a:r>
            <a:r>
              <a:rPr lang="en-US" sz="2400" dirty="0" err="1"/>
              <a:t>Folyamatos</a:t>
            </a:r>
            <a:r>
              <a:rPr lang="en-US" sz="2400" dirty="0"/>
              <a:t> </a:t>
            </a:r>
            <a:r>
              <a:rPr lang="en-US" sz="2400" dirty="0" err="1"/>
              <a:t>kapcsolattartás</a:t>
            </a:r>
            <a:r>
              <a:rPr lang="en-US" sz="2400" dirty="0"/>
              <a:t> </a:t>
            </a:r>
            <a:r>
              <a:rPr lang="en-US" sz="2400" dirty="0" err="1"/>
              <a:t>és</a:t>
            </a:r>
            <a:r>
              <a:rPr lang="en-US" sz="2400" dirty="0"/>
              <a:t> </a:t>
            </a:r>
            <a:r>
              <a:rPr lang="en-US" sz="2400" dirty="0" err="1"/>
              <a:t>egyeztetés</a:t>
            </a:r>
            <a:r>
              <a:rPr lang="en-US" sz="2400" dirty="0"/>
              <a:t>: Discord</a:t>
            </a:r>
          </a:p>
        </p:txBody>
      </p:sp>
      <p:pic>
        <p:nvPicPr>
          <p:cNvPr id="1026" name="Picture 2" descr="Discord Logo Icon editorial vector 6892625 Vector Art at Vecteezy">
            <a:extLst>
              <a:ext uri="{FF2B5EF4-FFF2-40B4-BE49-F238E27FC236}">
                <a16:creationId xmlns:a16="http://schemas.microsoft.com/office/drawing/2014/main" id="{61B4A9BC-E9C2-58D6-F6FF-EF66BC5AFB7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16796" y="3671577"/>
            <a:ext cx="2350767" cy="23507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Github Logo - Free social media icons">
            <a:extLst>
              <a:ext uri="{FF2B5EF4-FFF2-40B4-BE49-F238E27FC236}">
                <a16:creationId xmlns:a16="http://schemas.microsoft.com/office/drawing/2014/main" id="{4F65333E-6F63-E00E-C2D4-41C2826887C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32659" y="3671576"/>
            <a:ext cx="2350767" cy="23507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802041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Abs val="5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1201"/>
                            </p:stCondLst>
                            <p:childTnLst>
                              <p:par>
                                <p:cTn id="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Abs val="5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852"/>
                            </p:stCondLst>
                            <p:childTnLst>
                              <p:par>
                                <p:cTn id="1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10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6" dur="5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10"/>
                                  </p:iterate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iterate type="wd">
                                    <p:tmAbs val="10"/>
                                  </p:iterate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22" presetClass="exit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24" dur="500"/>
                                        <p:tgtEl>
                                          <p:spTgt spid="102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22" presetClass="exit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right)">
                                      <p:cBhvr>
                                        <p:cTn id="27" dur="5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2" grpId="1"/>
      <p:bldP spid="6" grpId="0"/>
      <p:bldP spid="6" grpId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Kép 4">
            <a:extLst>
              <a:ext uri="{FF2B5EF4-FFF2-40B4-BE49-F238E27FC236}">
                <a16:creationId xmlns:a16="http://schemas.microsoft.com/office/drawing/2014/main" id="{4C133509-C5A5-4B10-8D2A-A46567FDAA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74855" y="61071"/>
            <a:ext cx="5630944" cy="2573391"/>
          </a:xfrm>
          <a:prstGeom prst="rect">
            <a:avLst/>
          </a:prstGeom>
          <a:ln w="47625">
            <a:gradFill>
              <a:gsLst>
                <a:gs pos="0">
                  <a:schemeClr val="accent2"/>
                </a:gs>
                <a:gs pos="94000">
                  <a:schemeClr val="bg1">
                    <a:alpha val="0"/>
                  </a:schemeClr>
                </a:gs>
                <a:gs pos="100000">
                  <a:schemeClr val="bg1">
                    <a:alpha val="0"/>
                  </a:schemeClr>
                </a:gs>
              </a:gsLst>
              <a:lin ang="4200000" scaled="0"/>
            </a:gradFill>
          </a:ln>
        </p:spPr>
      </p:pic>
      <p:pic>
        <p:nvPicPr>
          <p:cNvPr id="7" name="Kép 6">
            <a:extLst>
              <a:ext uri="{FF2B5EF4-FFF2-40B4-BE49-F238E27FC236}">
                <a16:creationId xmlns:a16="http://schemas.microsoft.com/office/drawing/2014/main" id="{4FD448E6-1495-479B-94C6-028E827A36F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78510" y="1347766"/>
            <a:ext cx="5618131" cy="2573391"/>
          </a:xfrm>
          <a:prstGeom prst="rect">
            <a:avLst/>
          </a:prstGeom>
          <a:ln w="41275">
            <a:gradFill>
              <a:gsLst>
                <a:gs pos="0">
                  <a:schemeClr val="accent1">
                    <a:lumMod val="5000"/>
                    <a:lumOff val="95000"/>
                    <a:alpha val="0"/>
                  </a:schemeClr>
                </a:gs>
                <a:gs pos="18000">
                  <a:srgbClr val="EB9568">
                    <a:alpha val="0"/>
                  </a:srgbClr>
                </a:gs>
                <a:gs pos="100000">
                  <a:schemeClr val="accent2"/>
                </a:gs>
              </a:gsLst>
              <a:lin ang="3600000" scaled="0"/>
            </a:gradFill>
          </a:ln>
        </p:spPr>
      </p:pic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167271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Cím 1">
            <a:extLst>
              <a:ext uri="{FF2B5EF4-FFF2-40B4-BE49-F238E27FC236}">
                <a16:creationId xmlns:a16="http://schemas.microsoft.com/office/drawing/2014/main" id="{E1FF5690-D036-0931-7FF5-EB2FD6D17C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4480" y="1153572"/>
            <a:ext cx="3602754" cy="4461163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rgbClr val="FFFFFF"/>
                </a:solidFill>
              </a:rPr>
              <a:t>A program </a:t>
            </a:r>
            <a:r>
              <a:rPr lang="en-US" dirty="0" err="1">
                <a:solidFill>
                  <a:srgbClr val="FFFFFF"/>
                </a:solidFill>
              </a:rPr>
              <a:t>fő</a:t>
            </a:r>
            <a:r>
              <a:rPr lang="en-US" dirty="0">
                <a:solidFill>
                  <a:srgbClr val="FFFFFF"/>
                </a:solidFill>
              </a:rPr>
              <a:t> </a:t>
            </a:r>
            <a:r>
              <a:rPr lang="en-US" dirty="0" err="1">
                <a:solidFill>
                  <a:srgbClr val="FFFFFF"/>
                </a:solidFill>
              </a:rPr>
              <a:t>funkciói</a:t>
            </a:r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7550402" y="245547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C8EC822B-CD46-3AC1-1250-432F0FBE11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47308" y="3998634"/>
            <a:ext cx="6830291" cy="2462801"/>
          </a:xfrm>
        </p:spPr>
        <p:txBody>
          <a:bodyPr anchor="ctr">
            <a:normAutofit fontScale="85000" lnSpcReduction="10000"/>
          </a:bodyPr>
          <a:lstStyle/>
          <a:p>
            <a:pPr>
              <a:buFontTx/>
              <a:buChar char="-"/>
            </a:pPr>
            <a:r>
              <a:rPr lang="en-US" dirty="0" err="1"/>
              <a:t>Felhasználókezelés</a:t>
            </a:r>
            <a:r>
              <a:rPr lang="en-US" dirty="0"/>
              <a:t> (</a:t>
            </a:r>
            <a:r>
              <a:rPr lang="en-US" dirty="0" err="1"/>
              <a:t>regisztráció</a:t>
            </a:r>
            <a:r>
              <a:rPr lang="en-US" dirty="0"/>
              <a:t>, </a:t>
            </a:r>
            <a:r>
              <a:rPr lang="en-US" dirty="0" err="1"/>
              <a:t>bejelentkezés</a:t>
            </a:r>
            <a:r>
              <a:rPr lang="en-US" dirty="0"/>
              <a:t>)</a:t>
            </a:r>
          </a:p>
          <a:p>
            <a:pPr>
              <a:buFontTx/>
              <a:buChar char="-"/>
            </a:pPr>
            <a:r>
              <a:rPr lang="en-US" dirty="0"/>
              <a:t>E-mail </a:t>
            </a:r>
            <a:r>
              <a:rPr lang="en-US" dirty="0" err="1"/>
              <a:t>megerősítés</a:t>
            </a:r>
            <a:r>
              <a:rPr lang="en-US" dirty="0"/>
              <a:t> </a:t>
            </a:r>
            <a:r>
              <a:rPr lang="en-US" dirty="0" err="1"/>
              <a:t>rendszere</a:t>
            </a:r>
            <a:endParaRPr lang="en-US" dirty="0"/>
          </a:p>
          <a:p>
            <a:pPr>
              <a:buFontTx/>
              <a:buChar char="-"/>
            </a:pPr>
            <a:r>
              <a:rPr lang="en-US" dirty="0" err="1"/>
              <a:t>Profilkezelés</a:t>
            </a:r>
            <a:endParaRPr lang="en-US" dirty="0"/>
          </a:p>
          <a:p>
            <a:pPr>
              <a:buFontTx/>
              <a:buChar char="-"/>
            </a:pPr>
            <a:r>
              <a:rPr lang="en-US" dirty="0" err="1"/>
              <a:t>Személyes</a:t>
            </a:r>
            <a:r>
              <a:rPr lang="en-US" dirty="0"/>
              <a:t> </a:t>
            </a:r>
            <a:r>
              <a:rPr lang="en-US" dirty="0" err="1"/>
              <a:t>feladatok</a:t>
            </a:r>
            <a:r>
              <a:rPr lang="en-US" dirty="0"/>
              <a:t> </a:t>
            </a:r>
            <a:r>
              <a:rPr lang="en-US" dirty="0" err="1"/>
              <a:t>létrehozása</a:t>
            </a:r>
            <a:endParaRPr lang="en-US" dirty="0"/>
          </a:p>
          <a:p>
            <a:pPr>
              <a:buFontTx/>
              <a:buChar char="-"/>
            </a:pPr>
            <a:r>
              <a:rPr lang="en-US" dirty="0" err="1"/>
              <a:t>Feladatok</a:t>
            </a:r>
            <a:r>
              <a:rPr lang="en-US" dirty="0"/>
              <a:t> </a:t>
            </a:r>
            <a:r>
              <a:rPr lang="en-US" dirty="0" err="1"/>
              <a:t>folyamatának</a:t>
            </a:r>
            <a:r>
              <a:rPr lang="en-US" dirty="0"/>
              <a:t> (</a:t>
            </a:r>
            <a:r>
              <a:rPr lang="en-US" dirty="0" err="1"/>
              <a:t>státuszának</a:t>
            </a:r>
            <a:r>
              <a:rPr lang="en-US" dirty="0"/>
              <a:t>) </a:t>
            </a:r>
            <a:r>
              <a:rPr lang="en-US" dirty="0" err="1"/>
              <a:t>követése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716869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Abs val="5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851"/>
                            </p:stCondLst>
                            <p:childTnLst>
                              <p:par>
                                <p:cTn id="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Abs val="5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102"/>
                            </p:stCondLst>
                            <p:childTnLst>
                              <p:par>
                                <p:cTn id="1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Abs val="50"/>
                                  </p:iterate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203"/>
                            </p:stCondLst>
                            <p:childTnLst>
                              <p:par>
                                <p:cTn id="1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Abs val="50"/>
                                  </p:iterate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203"/>
                            </p:stCondLst>
                            <p:childTnLst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Abs val="50"/>
                                  </p:iterate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304"/>
                            </p:stCondLst>
                            <p:childTnLst>
                              <p:par>
                                <p:cTn id="2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Abs val="50"/>
                                  </p:iterate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555"/>
                            </p:stCondLst>
                            <p:childTnLst>
                              <p:par>
                                <p:cTn id="2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iterate type="wd">
                                    <p:tmAbs val="10"/>
                                  </p:iterate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51"/>
                            </p:stCondLst>
                            <p:childTnLst>
                              <p:par>
                                <p:cTn id="34" presetID="1" presetClass="exit" presetSubtype="0" fill="hold" grpId="1" nodeType="afterEffect">
                                  <p:stCondLst>
                                    <p:cond delay="0"/>
                                  </p:stCondLst>
                                  <p:iterate type="wd">
                                    <p:tmAbs val="10"/>
                                  </p:iterate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72"/>
                            </p:stCondLst>
                            <p:childTnLst>
                              <p:par>
                                <p:cTn id="37" presetID="1" presetClass="exit" presetSubtype="0" fill="hold" grpId="1" nodeType="afterEffect">
                                  <p:stCondLst>
                                    <p:cond delay="0"/>
                                  </p:stCondLst>
                                  <p:iterate type="wd">
                                    <p:tmAbs val="10"/>
                                  </p:iterate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72"/>
                            </p:stCondLst>
                            <p:childTnLst>
                              <p:par>
                                <p:cTn id="40" presetID="1" presetClass="exit" presetSubtype="0" fill="hold" grpId="1" nodeType="afterEffect">
                                  <p:stCondLst>
                                    <p:cond delay="0"/>
                                  </p:stCondLst>
                                  <p:iterate type="wd">
                                    <p:tmAbs val="10"/>
                                  </p:iterate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93"/>
                            </p:stCondLst>
                            <p:childTnLst>
                              <p:par>
                                <p:cTn id="43" presetID="1" presetClass="exit" presetSubtype="0" fill="hold" grpId="1" nodeType="afterEffect">
                                  <p:stCondLst>
                                    <p:cond delay="0"/>
                                  </p:stCondLst>
                                  <p:iterate type="wd">
                                    <p:tmAbs val="10"/>
                                  </p:iterate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2" presetClass="exit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46" dur="500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0-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500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2" presetClass="exit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50" dur="5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1+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1" dur="5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  <p:bldP spid="3" grpId="1" uiExpand="1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Kép 4">
            <a:extLst>
              <a:ext uri="{FF2B5EF4-FFF2-40B4-BE49-F238E27FC236}">
                <a16:creationId xmlns:a16="http://schemas.microsoft.com/office/drawing/2014/main" id="{79494EE7-4E52-4345-9C63-BBC578C0B0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9140" y="176100"/>
            <a:ext cx="5574906" cy="2565212"/>
          </a:xfrm>
          <a:prstGeom prst="rect">
            <a:avLst/>
          </a:prstGeom>
          <a:ln w="47625">
            <a:gradFill>
              <a:gsLst>
                <a:gs pos="0">
                  <a:schemeClr val="bg1">
                    <a:alpha val="0"/>
                  </a:schemeClr>
                </a:gs>
                <a:gs pos="0">
                  <a:schemeClr val="bg1">
                    <a:alpha val="0"/>
                  </a:schemeClr>
                </a:gs>
                <a:gs pos="100000">
                  <a:schemeClr val="accent2"/>
                </a:gs>
              </a:gsLst>
              <a:lin ang="18000000" scaled="0"/>
            </a:gradFill>
          </a:ln>
        </p:spPr>
      </p:pic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167271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Kép 6">
            <a:extLst>
              <a:ext uri="{FF2B5EF4-FFF2-40B4-BE49-F238E27FC236}">
                <a16:creationId xmlns:a16="http://schemas.microsoft.com/office/drawing/2014/main" id="{11E981F4-BC69-4490-89DE-EECDBF594C0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51682" y="1331560"/>
            <a:ext cx="5543499" cy="2533428"/>
          </a:xfrm>
          <a:prstGeom prst="rect">
            <a:avLst/>
          </a:prstGeom>
          <a:ln w="47625">
            <a:gradFill>
              <a:gsLst>
                <a:gs pos="27000">
                  <a:srgbClr val="FDF0E9">
                    <a:alpha val="0"/>
                  </a:srgbClr>
                </a:gs>
                <a:gs pos="0">
                  <a:schemeClr val="bg1">
                    <a:alpha val="0"/>
                  </a:schemeClr>
                </a:gs>
                <a:gs pos="100000">
                  <a:schemeClr val="accent2"/>
                </a:gs>
              </a:gsLst>
              <a:lin ang="7200000" scaled="0"/>
            </a:gradFill>
          </a:ln>
        </p:spPr>
      </p:pic>
      <p:sp>
        <p:nvSpPr>
          <p:cNvPr id="2" name="Cím 1">
            <a:extLst>
              <a:ext uri="{FF2B5EF4-FFF2-40B4-BE49-F238E27FC236}">
                <a16:creationId xmlns:a16="http://schemas.microsoft.com/office/drawing/2014/main" id="{A02488A2-D637-D4C7-CA36-EF75D66D2A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4480" y="1153572"/>
            <a:ext cx="3602754" cy="4461163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rgbClr val="FFFFFF"/>
                </a:solidFill>
              </a:rPr>
              <a:t>A program </a:t>
            </a:r>
            <a:r>
              <a:rPr lang="en-US" dirty="0" err="1">
                <a:solidFill>
                  <a:srgbClr val="FFFFFF"/>
                </a:solidFill>
              </a:rPr>
              <a:t>fő</a:t>
            </a:r>
            <a:r>
              <a:rPr lang="en-US" dirty="0">
                <a:solidFill>
                  <a:srgbClr val="FFFFFF"/>
                </a:solidFill>
              </a:rPr>
              <a:t> </a:t>
            </a:r>
            <a:r>
              <a:rPr lang="en-US" dirty="0" err="1">
                <a:solidFill>
                  <a:srgbClr val="FFFFFF"/>
                </a:solidFill>
              </a:rPr>
              <a:t>funkciói</a:t>
            </a:r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7550402" y="245547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FE7EE2D2-F64A-CEF6-8DF3-AF3F997CAC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47308" y="4116689"/>
            <a:ext cx="6918781" cy="2283693"/>
          </a:xfrm>
        </p:spPr>
        <p:txBody>
          <a:bodyPr anchor="ctr">
            <a:normAutofit fontScale="85000" lnSpcReduction="10000"/>
          </a:bodyPr>
          <a:lstStyle/>
          <a:p>
            <a:pPr>
              <a:buFontTx/>
              <a:buChar char="-"/>
            </a:pPr>
            <a:r>
              <a:rPr lang="hu-HU" dirty="0"/>
              <a:t>Csoportok létrehozása és kezelése</a:t>
            </a:r>
            <a:endParaRPr lang="en-US" dirty="0"/>
          </a:p>
          <a:p>
            <a:pPr>
              <a:buFontTx/>
              <a:buChar char="-"/>
            </a:pPr>
            <a:r>
              <a:rPr lang="hu-HU" dirty="0"/>
              <a:t>Tagok és jogosultságok adminisztrálása</a:t>
            </a:r>
            <a:endParaRPr lang="en-US" dirty="0"/>
          </a:p>
          <a:p>
            <a:pPr>
              <a:buFontTx/>
              <a:buChar char="-"/>
            </a:pPr>
            <a:r>
              <a:rPr lang="hu-HU" dirty="0"/>
              <a:t>Csoportos feladatok kiosztása</a:t>
            </a:r>
            <a:endParaRPr lang="en-US" dirty="0"/>
          </a:p>
          <a:p>
            <a:pPr>
              <a:buFontTx/>
              <a:buChar char="-"/>
            </a:pPr>
            <a:r>
              <a:rPr lang="hu-HU" dirty="0"/>
              <a:t>Fájlok és mellékletek csatolása a feladatokhoz</a:t>
            </a:r>
            <a:endParaRPr lang="en-US" dirty="0"/>
          </a:p>
          <a:p>
            <a:pPr>
              <a:buFontTx/>
              <a:buChar char="-"/>
            </a:pPr>
            <a:r>
              <a:rPr lang="hu-HU" dirty="0"/>
              <a:t>Keresés és szűrés a teendők között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20093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Abs val="5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151"/>
                            </p:stCondLst>
                            <p:childTnLst>
                              <p:par>
                                <p:cTn id="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Abs val="5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302"/>
                            </p:stCondLst>
                            <p:childTnLst>
                              <p:par>
                                <p:cTn id="1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Abs val="50"/>
                                  </p:iterate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403"/>
                            </p:stCondLst>
                            <p:childTnLst>
                              <p:par>
                                <p:cTn id="1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Abs val="50"/>
                                  </p:iterate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654"/>
                            </p:stCondLst>
                            <p:childTnLst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Abs val="50"/>
                                  </p:iterate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905"/>
                            </p:stCondLst>
                            <p:childTnLst>
                              <p:par>
                                <p:cTn id="20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10"/>
                                  </p:iterate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iterate type="wd">
                                    <p:tmAbs val="10"/>
                                  </p:iterate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iterate type="wd">
                                    <p:tmAbs val="10"/>
                                  </p:iterate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iterate type="wd">
                                    <p:tmAbs val="10"/>
                                  </p:iterate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iterate type="wd">
                                    <p:tmAbs val="10"/>
                                  </p:iterate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iterate type="wd">
                                    <p:tmAbs val="10"/>
                                  </p:iterate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" presetID="22" presetClass="exit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up)">
                                      <p:cBhvr>
                                        <p:cTn id="4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22" presetClass="exit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4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uiExpand="1" build="p"/>
      <p:bldP spid="3" grpId="1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167271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Cím 1">
            <a:extLst>
              <a:ext uri="{FF2B5EF4-FFF2-40B4-BE49-F238E27FC236}">
                <a16:creationId xmlns:a16="http://schemas.microsoft.com/office/drawing/2014/main" id="{CE233933-14A4-E72C-2A28-5DF242AFD3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4640" y="1153572"/>
            <a:ext cx="3592594" cy="4461163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rgbClr val="FFFFFF"/>
                </a:solidFill>
              </a:rPr>
              <a:t>Reszponzivitás </a:t>
            </a:r>
            <a:r>
              <a:rPr lang="en-US" dirty="0" err="1">
                <a:solidFill>
                  <a:srgbClr val="FFFFFF"/>
                </a:solidFill>
              </a:rPr>
              <a:t>és</a:t>
            </a:r>
            <a:r>
              <a:rPr lang="en-US" dirty="0">
                <a:solidFill>
                  <a:srgbClr val="FFFFFF"/>
                </a:solidFill>
              </a:rPr>
              <a:t> Frontend</a:t>
            </a: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7550402" y="245547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B2C9592F-7145-3405-4343-6FC3EC6CF5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58861" y="817055"/>
            <a:ext cx="7331737" cy="2741790"/>
          </a:xfrm>
        </p:spPr>
        <p:txBody>
          <a:bodyPr anchor="ctr">
            <a:normAutofit/>
          </a:bodyPr>
          <a:lstStyle/>
          <a:p>
            <a:pPr>
              <a:buFontTx/>
              <a:buChar char="-"/>
            </a:pPr>
            <a:r>
              <a:rPr lang="en-US" sz="2400" dirty="0"/>
              <a:t>Vue.js 3 (Vite </a:t>
            </a:r>
            <a:r>
              <a:rPr lang="en-US" sz="2400" dirty="0" err="1"/>
              <a:t>alapokon</a:t>
            </a:r>
            <a:r>
              <a:rPr lang="en-US" sz="2400" dirty="0"/>
              <a:t>)</a:t>
            </a:r>
          </a:p>
          <a:p>
            <a:pPr>
              <a:buFontTx/>
              <a:buChar char="-"/>
            </a:pPr>
            <a:r>
              <a:rPr lang="en-US" sz="2400" dirty="0"/>
              <a:t>Bootstrap 5 </a:t>
            </a:r>
            <a:r>
              <a:rPr lang="en-US" sz="2400" dirty="0" err="1"/>
              <a:t>keretrendszer</a:t>
            </a:r>
            <a:endParaRPr lang="en-US" sz="2400" dirty="0"/>
          </a:p>
          <a:p>
            <a:pPr>
              <a:buFontTx/>
              <a:buChar char="-"/>
            </a:pPr>
            <a:r>
              <a:rPr lang="en-US" sz="2400" dirty="0"/>
              <a:t>"Minden </a:t>
            </a:r>
            <a:r>
              <a:rPr lang="en-US" sz="2400" dirty="0" err="1"/>
              <a:t>eszközre</a:t>
            </a:r>
            <a:r>
              <a:rPr lang="en-US" sz="2400" dirty="0"/>
              <a:t> </a:t>
            </a:r>
            <a:r>
              <a:rPr lang="en-US" sz="2400" dirty="0" err="1"/>
              <a:t>optimalizálva</a:t>
            </a:r>
            <a:r>
              <a:rPr lang="en-US" sz="2400" dirty="0"/>
              <a:t>" (Mobil, Tablet, PC)</a:t>
            </a:r>
          </a:p>
          <a:p>
            <a:pPr>
              <a:buFontTx/>
              <a:buChar char="-"/>
            </a:pPr>
            <a:r>
              <a:rPr lang="en-US" sz="2400" dirty="0"/>
              <a:t>Vue Router a </a:t>
            </a:r>
            <a:r>
              <a:rPr lang="en-US" sz="2400" dirty="0" err="1"/>
              <a:t>navigációhoz</a:t>
            </a:r>
            <a:endParaRPr lang="en-US" sz="2400" dirty="0"/>
          </a:p>
          <a:p>
            <a:pPr>
              <a:buFontTx/>
              <a:buChar char="-"/>
            </a:pPr>
            <a:r>
              <a:rPr lang="en-US" sz="2400" dirty="0"/>
              <a:t>Axios </a:t>
            </a:r>
            <a:r>
              <a:rPr lang="en-US" sz="2400" dirty="0" err="1"/>
              <a:t>az</a:t>
            </a:r>
            <a:r>
              <a:rPr lang="en-US" sz="2400" dirty="0"/>
              <a:t> API </a:t>
            </a:r>
            <a:r>
              <a:rPr lang="en-US" sz="2400" dirty="0" err="1"/>
              <a:t>hívásokhoz</a:t>
            </a:r>
            <a:r>
              <a:rPr lang="en-US" sz="2400" dirty="0"/>
              <a:t>, Vue-i18n a </a:t>
            </a:r>
            <a:r>
              <a:rPr lang="en-US" sz="2400" dirty="0" err="1"/>
              <a:t>lokalizációhoz</a:t>
            </a:r>
            <a:endParaRPr lang="en-US" sz="2400" dirty="0"/>
          </a:p>
        </p:txBody>
      </p:sp>
      <p:pic>
        <p:nvPicPr>
          <p:cNvPr id="6" name="Kép 5">
            <a:extLst>
              <a:ext uri="{FF2B5EF4-FFF2-40B4-BE49-F238E27FC236}">
                <a16:creationId xmlns:a16="http://schemas.microsoft.com/office/drawing/2014/main" id="{2D2F2581-868C-4476-9315-E6840A827B6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23446" y="3801960"/>
            <a:ext cx="2493836" cy="2493836"/>
          </a:xfrm>
          <a:prstGeom prst="rect">
            <a:avLst/>
          </a:prstGeom>
        </p:spPr>
      </p:pic>
      <p:pic>
        <p:nvPicPr>
          <p:cNvPr id="2052" name="Picture 4" descr="bootstrap-icons - npm">
            <a:extLst>
              <a:ext uri="{FF2B5EF4-FFF2-40B4-BE49-F238E27FC236}">
                <a16:creationId xmlns:a16="http://schemas.microsoft.com/office/drawing/2014/main" id="{FD05DBDD-2C19-431A-A2F5-96003BA413A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28626" y="3877933"/>
            <a:ext cx="2828226" cy="23332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E64F0DF0-5C6C-04A0-8061-0EE41A79048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66626" y="3803763"/>
            <a:ext cx="2726480" cy="25836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4045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Abs val="5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1151"/>
                            </p:stCondLst>
                            <p:childTnLst>
                              <p:par>
                                <p:cTn id="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Abs val="5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502"/>
                            </p:stCondLst>
                            <p:childTnLst>
                              <p:par>
                                <p:cTn id="1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Abs val="50"/>
                                  </p:iterate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603"/>
                            </p:stCondLst>
                            <p:childTnLst>
                              <p:par>
                                <p:cTn id="1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Abs val="50"/>
                                  </p:iterate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154"/>
                            </p:stCondLst>
                            <p:childTnLst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Abs val="50"/>
                                  </p:iterate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2305"/>
                            </p:stCondLst>
                            <p:childTnLst>
                              <p:par>
                                <p:cTn id="2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Abs val="50"/>
                                  </p:iterate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4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205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20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20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10"/>
                                  </p:iterate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iterate type="wd">
                                    <p:tmAbs val="10"/>
                                  </p:iterate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iterate type="wd">
                                    <p:tmAbs val="10"/>
                                  </p:iterate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iterate type="wd">
                                    <p:tmAbs val="10"/>
                                  </p:iterate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iterate type="wd">
                                    <p:tmAbs val="10"/>
                                  </p:iterate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iterate type="wd">
                                    <p:tmAbs val="10"/>
                                  </p:iterate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42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2" dur="500"/>
                                        <p:tgtEl>
                                          <p:spTgt spid="205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3" dur="500"/>
                                        <p:tgtEl>
                                          <p:spTgt spid="20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500"/>
                                        <p:tgtEl>
                                          <p:spTgt spid="20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6" presetID="47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8" dur="5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5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-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42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3" dur="5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5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2" grpId="1"/>
      <p:bldP spid="3" grpId="0" build="p"/>
      <p:bldP spid="3" grpId="1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167271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Cím 1">
            <a:extLst>
              <a:ext uri="{FF2B5EF4-FFF2-40B4-BE49-F238E27FC236}">
                <a16:creationId xmlns:a16="http://schemas.microsoft.com/office/drawing/2014/main" id="{05E63C58-6061-A32F-9C22-ADF0EED184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4960" y="1153572"/>
            <a:ext cx="3572274" cy="4461163"/>
          </a:xfrm>
        </p:spPr>
        <p:txBody>
          <a:bodyPr>
            <a:normAutofit/>
          </a:bodyPr>
          <a:lstStyle/>
          <a:p>
            <a:r>
              <a:rPr lang="da-DK" dirty="0">
                <a:solidFill>
                  <a:srgbClr val="FFFFFF"/>
                </a:solidFill>
              </a:rPr>
              <a:t>Fejlesztői és E2E (End-to-End) tesztelés</a:t>
            </a:r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7550402" y="245547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0071CFF0-4999-9BF7-2FBE-1B59059A3D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28631" y="3262199"/>
            <a:ext cx="6977745" cy="3047212"/>
          </a:xfrm>
        </p:spPr>
        <p:txBody>
          <a:bodyPr anchor="ctr">
            <a:normAutofit/>
          </a:bodyPr>
          <a:lstStyle/>
          <a:p>
            <a:pPr>
              <a:buFontTx/>
              <a:buChar char="-"/>
            </a:pPr>
            <a:r>
              <a:rPr lang="hu-HU" sz="2400" dirty="0"/>
              <a:t>Backend tesztelés: </a:t>
            </a:r>
            <a:r>
              <a:rPr lang="hu-HU" sz="2400" dirty="0" err="1"/>
              <a:t>Django</a:t>
            </a:r>
            <a:r>
              <a:rPr lang="hu-HU" sz="2400" dirty="0"/>
              <a:t> beépített teszt keretrendszere</a:t>
            </a:r>
            <a:endParaRPr lang="en-US" sz="2400" dirty="0"/>
          </a:p>
          <a:p>
            <a:pPr>
              <a:buFontTx/>
              <a:buChar char="-"/>
            </a:pPr>
            <a:r>
              <a:rPr lang="hu-HU" sz="2400" dirty="0"/>
              <a:t>API végpontok automatikus ellenőrzése</a:t>
            </a:r>
            <a:endParaRPr lang="en-US" sz="2400" dirty="0"/>
          </a:p>
          <a:p>
            <a:pPr>
              <a:buFontTx/>
              <a:buChar char="-"/>
            </a:pPr>
            <a:r>
              <a:rPr lang="hu-HU" sz="2400" dirty="0"/>
              <a:t>E2E és UI tesztelés: Robot Framework</a:t>
            </a:r>
            <a:endParaRPr lang="en-US" sz="2400" dirty="0"/>
          </a:p>
          <a:p>
            <a:pPr>
              <a:buFontTx/>
              <a:buChar char="-"/>
            </a:pPr>
            <a:r>
              <a:rPr lang="hu-HU" sz="2400" dirty="0"/>
              <a:t>Böngészőautomatizálás </a:t>
            </a:r>
            <a:r>
              <a:rPr lang="hu-HU" sz="2400" dirty="0" err="1"/>
              <a:t>Selenium</a:t>
            </a:r>
            <a:r>
              <a:rPr lang="hu-HU" sz="2400" dirty="0"/>
              <a:t> segítségével</a:t>
            </a:r>
            <a:endParaRPr lang="en-US" sz="2400" dirty="0"/>
          </a:p>
          <a:p>
            <a:pPr>
              <a:buFontTx/>
              <a:buChar char="-"/>
            </a:pPr>
            <a:r>
              <a:rPr lang="hu-HU" sz="2400" dirty="0"/>
              <a:t>Funkciók teljeskörű, felhasználói szintű tesztelése</a:t>
            </a:r>
            <a:endParaRPr lang="en-US" sz="2400" dirty="0"/>
          </a:p>
        </p:txBody>
      </p:sp>
      <p:pic>
        <p:nvPicPr>
          <p:cNvPr id="1030" name="Picture 6">
            <a:extLst>
              <a:ext uri="{FF2B5EF4-FFF2-40B4-BE49-F238E27FC236}">
                <a16:creationId xmlns:a16="http://schemas.microsoft.com/office/drawing/2014/main" id="{7BE3D1EC-37CC-4C6C-9906-D5F291E929E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63085" y="917440"/>
            <a:ext cx="1938456" cy="20256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BA7092F-4FB4-6985-00D7-EF058EF1300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89043" y="917570"/>
            <a:ext cx="3260896" cy="19950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42637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Abs val="5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1751"/>
                            </p:stCondLst>
                            <p:childTnLst>
                              <p:par>
                                <p:cTn id="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Abs val="5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2052"/>
                            </p:stCondLst>
                            <p:childTnLst>
                              <p:par>
                                <p:cTn id="1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Abs val="50"/>
                                  </p:iterate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2203"/>
                            </p:stCondLst>
                            <p:childTnLst>
                              <p:par>
                                <p:cTn id="1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Abs val="50"/>
                                  </p:iterate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504"/>
                            </p:stCondLst>
                            <p:childTnLst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Abs val="50"/>
                                  </p:iterate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2605"/>
                            </p:stCondLst>
                            <p:childTnLst>
                              <p:par>
                                <p:cTn id="2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Abs val="50"/>
                                  </p:iterate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2856"/>
                            </p:stCondLst>
                            <p:childTnLst>
                              <p:par>
                                <p:cTn id="2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10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10"/>
                                  </p:iterate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iterate type="wd">
                                    <p:tmAbs val="10"/>
                                  </p:iterate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iterate type="wd">
                                    <p:tmAbs val="10"/>
                                  </p:iterate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iterate type="wd">
                                    <p:tmAbs val="10"/>
                                  </p:iterate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iterate type="wd">
                                    <p:tmAbs val="10"/>
                                  </p:iterate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iterate type="wd">
                                    <p:tmAbs val="10"/>
                                  </p:iterate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22" presetClass="exit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44" dur="500"/>
                                        <p:tgtEl>
                                          <p:spTgt spid="103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" presetID="22" presetClass="exit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right)">
                                      <p:cBhvr>
                                        <p:cTn id="4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2" grpId="1"/>
      <p:bldP spid="3" grpId="0" build="p"/>
      <p:bldP spid="3" grpId="1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167271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Cím 1">
            <a:extLst>
              <a:ext uri="{FF2B5EF4-FFF2-40B4-BE49-F238E27FC236}">
                <a16:creationId xmlns:a16="http://schemas.microsoft.com/office/drawing/2014/main" id="{63F851A9-4EEC-5B0B-9A7F-C031BDAB89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9082" y="1153572"/>
            <a:ext cx="3608152" cy="4461163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rgbClr val="FFFFFF"/>
                </a:solidFill>
              </a:rPr>
              <a:t>Backend </a:t>
            </a:r>
            <a:r>
              <a:rPr lang="en-US" dirty="0" err="1">
                <a:solidFill>
                  <a:srgbClr val="FFFFFF"/>
                </a:solidFill>
              </a:rPr>
              <a:t>technológiák</a:t>
            </a:r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7550402" y="245547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D07F7258-08C5-6507-8BA9-00F4E2ADAB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47308" y="591344"/>
            <a:ext cx="6906491" cy="3138219"/>
          </a:xfrm>
        </p:spPr>
        <p:txBody>
          <a:bodyPr anchor="ctr">
            <a:normAutofit/>
          </a:bodyPr>
          <a:lstStyle/>
          <a:p>
            <a:pPr>
              <a:buFontTx/>
              <a:buChar char="-"/>
            </a:pPr>
            <a:r>
              <a:rPr lang="en-US" sz="2400" dirty="0"/>
              <a:t>Python &amp; Django 5.2</a:t>
            </a:r>
          </a:p>
          <a:p>
            <a:pPr>
              <a:buFontTx/>
              <a:buChar char="-"/>
            </a:pPr>
            <a:r>
              <a:rPr lang="en-US" sz="2400" dirty="0"/>
              <a:t>Django REST Framework (DRF)</a:t>
            </a:r>
          </a:p>
          <a:p>
            <a:pPr>
              <a:buFontTx/>
              <a:buChar char="-"/>
            </a:pPr>
            <a:r>
              <a:rPr lang="en-US" sz="2400" dirty="0"/>
              <a:t>Token-</a:t>
            </a:r>
            <a:r>
              <a:rPr lang="en-US" sz="2400" dirty="0" err="1"/>
              <a:t>alapú</a:t>
            </a:r>
            <a:r>
              <a:rPr lang="en-US" sz="2400" dirty="0"/>
              <a:t> </a:t>
            </a:r>
            <a:r>
              <a:rPr lang="en-US" sz="2400" dirty="0" err="1"/>
              <a:t>hitelesítés</a:t>
            </a:r>
            <a:r>
              <a:rPr lang="en-US" sz="2400" dirty="0"/>
              <a:t> </a:t>
            </a:r>
            <a:r>
              <a:rPr lang="en-US" sz="2400" dirty="0" err="1"/>
              <a:t>és</a:t>
            </a:r>
            <a:r>
              <a:rPr lang="en-US" sz="2400" dirty="0"/>
              <a:t> CORS</a:t>
            </a:r>
          </a:p>
          <a:p>
            <a:pPr>
              <a:buFontTx/>
              <a:buChar char="-"/>
            </a:pPr>
            <a:r>
              <a:rPr lang="en-US" sz="2400" dirty="0"/>
              <a:t>SMTP </a:t>
            </a:r>
            <a:r>
              <a:rPr lang="en-US" sz="2400" dirty="0" err="1"/>
              <a:t>szolgáltatás</a:t>
            </a:r>
            <a:r>
              <a:rPr lang="en-US" sz="2400" dirty="0"/>
              <a:t> e-mail </a:t>
            </a:r>
            <a:r>
              <a:rPr lang="en-US" sz="2400" dirty="0" err="1"/>
              <a:t>megerősítéshez</a:t>
            </a:r>
            <a:endParaRPr lang="en-US" sz="2400" dirty="0"/>
          </a:p>
          <a:p>
            <a:pPr>
              <a:buFontTx/>
              <a:buChar char="-"/>
            </a:pPr>
            <a:r>
              <a:rPr lang="en-US" sz="2400" dirty="0"/>
              <a:t>SQLite3 </a:t>
            </a:r>
            <a:r>
              <a:rPr lang="en-US" sz="2400" dirty="0" err="1"/>
              <a:t>adatbáziskezelő</a:t>
            </a:r>
            <a:endParaRPr lang="en-US" sz="2400" dirty="0"/>
          </a:p>
        </p:txBody>
      </p:sp>
      <p:pic>
        <p:nvPicPr>
          <p:cNvPr id="1026" name="Picture 2" descr="Python (programming language) - Wikipedia">
            <a:extLst>
              <a:ext uri="{FF2B5EF4-FFF2-40B4-BE49-F238E27FC236}">
                <a16:creationId xmlns:a16="http://schemas.microsoft.com/office/drawing/2014/main" id="{1B1D6C10-5F81-4232-B98A-B5B8D013E8F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92994" y="4488008"/>
            <a:ext cx="1574276" cy="15742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Django REST framework">
            <a:extLst>
              <a:ext uri="{FF2B5EF4-FFF2-40B4-BE49-F238E27FC236}">
                <a16:creationId xmlns:a16="http://schemas.microsoft.com/office/drawing/2014/main" id="{4F3CE805-A34D-48D0-B760-52231DEDFF3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68684" y="4403947"/>
            <a:ext cx="3944234" cy="17423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Kép 4">
            <a:extLst>
              <a:ext uri="{FF2B5EF4-FFF2-40B4-BE49-F238E27FC236}">
                <a16:creationId xmlns:a16="http://schemas.microsoft.com/office/drawing/2014/main" id="{F2571F20-B508-4A6E-BC77-5F5C9CA1565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47308" y="4048651"/>
            <a:ext cx="3897631" cy="2490261"/>
          </a:xfrm>
          <a:prstGeom prst="rect">
            <a:avLst/>
          </a:prstGeom>
          <a:ln w="47625">
            <a:gradFill>
              <a:gsLst>
                <a:gs pos="0">
                  <a:schemeClr val="accent2"/>
                </a:gs>
                <a:gs pos="50000">
                  <a:schemeClr val="bg1">
                    <a:lumMod val="0"/>
                    <a:lumOff val="100000"/>
                  </a:schemeClr>
                </a:gs>
                <a:gs pos="100000">
                  <a:schemeClr val="accent2"/>
                </a:gs>
              </a:gsLst>
              <a:lin ang="12600000" scaled="0"/>
            </a:gradFill>
          </a:ln>
        </p:spPr>
      </p:pic>
    </p:spTree>
    <p:extLst>
      <p:ext uri="{BB962C8B-B14F-4D97-AF65-F5344CB8AC3E}">
        <p14:creationId xmlns:p14="http://schemas.microsoft.com/office/powerpoint/2010/main" val="25311562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Abs val="5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901"/>
                            </p:stCondLst>
                            <p:childTnLst>
                              <p:par>
                                <p:cTn id="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Abs val="5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52"/>
                            </p:stCondLst>
                            <p:childTnLst>
                              <p:par>
                                <p:cTn id="1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Abs val="50"/>
                                  </p:iterate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303"/>
                            </p:stCondLst>
                            <p:childTnLst>
                              <p:par>
                                <p:cTn id="1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Abs val="50"/>
                                  </p:iterate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454"/>
                            </p:stCondLst>
                            <p:childTnLst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Abs val="50"/>
                                  </p:iterate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605"/>
                            </p:stCondLst>
                            <p:childTnLst>
                              <p:par>
                                <p:cTn id="2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Abs val="50"/>
                                  </p:iterate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656"/>
                            </p:stCondLst>
                            <p:childTnLst>
                              <p:par>
                                <p:cTn id="23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4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0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10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10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10"/>
                                  </p:iterate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iterate type="wd">
                                    <p:tmAbs val="10"/>
                                  </p:iterate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iterate type="wd">
                                    <p:tmAbs val="10"/>
                                  </p:iterate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iterate type="wd">
                                    <p:tmAbs val="10"/>
                                  </p:iterate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iterate type="wd">
                                    <p:tmAbs val="10"/>
                                  </p:iterate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0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iterate type="wd">
                                    <p:tmAbs val="10"/>
                                  </p:iterate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2" presetID="47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3" dur="10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4" dur="1000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1000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-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42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8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9" dur="10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10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2" presetID="47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3" dur="1000"/>
                                        <p:tgtEl>
                                          <p:spTgt spid="10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4" dur="1000"/>
                                        <p:tgtEl>
                                          <p:spTgt spid="10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1000"/>
                                        <p:tgtEl>
                                          <p:spTgt spid="10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-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0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2" grpId="1"/>
      <p:bldP spid="3" grpId="0" build="p"/>
      <p:bldP spid="3" grpId="1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Kép 4">
            <a:extLst>
              <a:ext uri="{FF2B5EF4-FFF2-40B4-BE49-F238E27FC236}">
                <a16:creationId xmlns:a16="http://schemas.microsoft.com/office/drawing/2014/main" id="{195F3D4B-91B5-4A10-9F82-338663DEA0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34839" y="155121"/>
            <a:ext cx="4891104" cy="3962539"/>
          </a:xfrm>
          <a:prstGeom prst="rect">
            <a:avLst/>
          </a:prstGeom>
        </p:spPr>
      </p:pic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167271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Cím 1">
            <a:extLst>
              <a:ext uri="{FF2B5EF4-FFF2-40B4-BE49-F238E27FC236}">
                <a16:creationId xmlns:a16="http://schemas.microsoft.com/office/drawing/2014/main" id="{95444F69-CA14-23F0-8C86-75AE292573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4640" y="1153572"/>
            <a:ext cx="3592594" cy="4461163"/>
          </a:xfrm>
        </p:spPr>
        <p:txBody>
          <a:bodyPr>
            <a:normAutofit/>
          </a:bodyPr>
          <a:lstStyle/>
          <a:p>
            <a:r>
              <a:rPr lang="en-US" dirty="0" err="1">
                <a:solidFill>
                  <a:srgbClr val="FFFFFF"/>
                </a:solidFill>
              </a:rPr>
              <a:t>Modellek</a:t>
            </a:r>
            <a:r>
              <a:rPr lang="en-US" dirty="0">
                <a:solidFill>
                  <a:srgbClr val="FFFFFF"/>
                </a:solidFill>
              </a:rPr>
              <a:t> </a:t>
            </a:r>
            <a:r>
              <a:rPr lang="en-US" dirty="0" err="1">
                <a:solidFill>
                  <a:srgbClr val="FFFFFF"/>
                </a:solidFill>
              </a:rPr>
              <a:t>és</a:t>
            </a:r>
            <a:r>
              <a:rPr lang="en-US" dirty="0">
                <a:solidFill>
                  <a:srgbClr val="FFFFFF"/>
                </a:solidFill>
              </a:rPr>
              <a:t> </a:t>
            </a:r>
            <a:r>
              <a:rPr lang="en-US" dirty="0" err="1">
                <a:solidFill>
                  <a:srgbClr val="FFFFFF"/>
                </a:solidFill>
              </a:rPr>
              <a:t>Adatbázis</a:t>
            </a:r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7550402" y="245547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C7A211F6-D959-7B64-B84F-C736A25B9A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83335" y="3648173"/>
            <a:ext cx="6193159" cy="2528790"/>
          </a:xfrm>
        </p:spPr>
        <p:txBody>
          <a:bodyPr anchor="ctr">
            <a:normAutofit fontScale="77500" lnSpcReduction="20000"/>
          </a:bodyPr>
          <a:lstStyle/>
          <a:p>
            <a:pPr>
              <a:buFontTx/>
              <a:buChar char="-"/>
            </a:pPr>
            <a:r>
              <a:rPr lang="en-US" dirty="0"/>
              <a:t>Users (</a:t>
            </a:r>
            <a:r>
              <a:rPr lang="en-US" dirty="0" err="1"/>
              <a:t>Felhasználók</a:t>
            </a:r>
            <a:r>
              <a:rPr lang="en-US" dirty="0"/>
              <a:t>)</a:t>
            </a:r>
          </a:p>
          <a:p>
            <a:pPr>
              <a:buFontTx/>
              <a:buChar char="-"/>
            </a:pPr>
            <a:r>
              <a:rPr lang="en-US" dirty="0"/>
              <a:t>Groups (</a:t>
            </a:r>
            <a:r>
              <a:rPr lang="en-US" dirty="0" err="1"/>
              <a:t>Csoportok</a:t>
            </a:r>
            <a:r>
              <a:rPr lang="en-US" dirty="0"/>
              <a:t>)</a:t>
            </a:r>
          </a:p>
          <a:p>
            <a:pPr>
              <a:buFontTx/>
              <a:buChar char="-"/>
            </a:pPr>
            <a:r>
              <a:rPr lang="en-US" dirty="0"/>
              <a:t>Tasks (</a:t>
            </a:r>
            <a:r>
              <a:rPr lang="en-US" dirty="0" err="1"/>
              <a:t>Feladatok</a:t>
            </a:r>
            <a:r>
              <a:rPr lang="en-US" dirty="0"/>
              <a:t>)</a:t>
            </a:r>
          </a:p>
          <a:p>
            <a:pPr>
              <a:buFontTx/>
              <a:buChar char="-"/>
            </a:pPr>
            <a:r>
              <a:rPr lang="en-US" dirty="0"/>
              <a:t>Attachments (</a:t>
            </a:r>
            <a:r>
              <a:rPr lang="en-US" dirty="0" err="1"/>
              <a:t>Mellékletek</a:t>
            </a:r>
            <a:r>
              <a:rPr lang="en-US" dirty="0"/>
              <a:t>)</a:t>
            </a:r>
          </a:p>
          <a:p>
            <a:pPr>
              <a:buFontTx/>
              <a:buChar char="-"/>
            </a:pPr>
            <a:r>
              <a:rPr lang="en-US" dirty="0"/>
              <a:t>Django ORM (</a:t>
            </a:r>
            <a:r>
              <a:rPr lang="en-US" dirty="0" err="1"/>
              <a:t>Objektum-relációs</a:t>
            </a:r>
            <a:r>
              <a:rPr lang="en-US" dirty="0"/>
              <a:t> </a:t>
            </a:r>
            <a:r>
              <a:rPr lang="en-US" dirty="0" err="1"/>
              <a:t>leképzés</a:t>
            </a:r>
            <a:r>
              <a:rPr lang="en-US" dirty="0"/>
              <a:t>)</a:t>
            </a:r>
          </a:p>
          <a:p>
            <a:pPr>
              <a:buFontTx/>
              <a:buChar char="-"/>
            </a:pPr>
            <a:r>
              <a:rPr lang="en-US" dirty="0" err="1"/>
              <a:t>Idegen</a:t>
            </a:r>
            <a:r>
              <a:rPr lang="en-US" dirty="0"/>
              <a:t> </a:t>
            </a:r>
            <a:r>
              <a:rPr lang="en-US" dirty="0" err="1"/>
              <a:t>kulcsok</a:t>
            </a:r>
            <a:r>
              <a:rPr lang="en-US" dirty="0"/>
              <a:t> </a:t>
            </a:r>
            <a:r>
              <a:rPr lang="en-US" dirty="0" err="1"/>
              <a:t>és</a:t>
            </a:r>
            <a:r>
              <a:rPr lang="en-US" dirty="0"/>
              <a:t> Many-To-Many </a:t>
            </a:r>
            <a:r>
              <a:rPr lang="en-US" dirty="0" err="1"/>
              <a:t>kapcsolatok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10775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Abs val="50"/>
                                  </p:iterate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901"/>
                            </p:stCondLst>
                            <p:childTnLst>
                              <p:par>
                                <p:cTn id="1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Abs val="10"/>
                                  </p:iterate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932"/>
                            </p:stCondLst>
                            <p:childTnLst>
                              <p:par>
                                <p:cTn id="1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Abs val="10"/>
                                  </p:iterate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963"/>
                            </p:stCondLst>
                            <p:childTnLst>
                              <p:par>
                                <p:cTn id="1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Abs val="10"/>
                                  </p:iterate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994"/>
                            </p:stCondLst>
                            <p:childTnLst>
                              <p:par>
                                <p:cTn id="2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Abs val="10"/>
                                  </p:iterate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1025"/>
                            </p:stCondLst>
                            <p:childTnLst>
                              <p:par>
                                <p:cTn id="2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Abs val="10"/>
                                  </p:iterate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1076"/>
                            </p:stCondLst>
                            <p:childTnLst>
                              <p:par>
                                <p:cTn id="27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Abs val="10"/>
                                  </p:iterate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10"/>
                                  </p:iterate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2" presetClass="exit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34" dur="5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0-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5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500"/>
                            </p:stCondLst>
                            <p:childTnLst>
                              <p:par>
                                <p:cTn id="38" presetID="1" presetClass="exit" presetSubtype="0" fill="hold" grpId="1" nodeType="afterEffect">
                                  <p:stCondLst>
                                    <p:cond delay="0"/>
                                  </p:stCondLst>
                                  <p:iterate type="wd">
                                    <p:tmAbs val="10"/>
                                  </p:iterate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531"/>
                            </p:stCondLst>
                            <p:childTnLst>
                              <p:par>
                                <p:cTn id="41" presetID="1" presetClass="exit" presetSubtype="0" fill="hold" grpId="1" nodeType="afterEffect">
                                  <p:stCondLst>
                                    <p:cond delay="0"/>
                                  </p:stCondLst>
                                  <p:iterate type="wd">
                                    <p:tmAbs val="10"/>
                                  </p:iterate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562"/>
                            </p:stCondLst>
                            <p:childTnLst>
                              <p:par>
                                <p:cTn id="44" presetID="1" presetClass="exit" presetSubtype="0" fill="hold" grpId="1" nodeType="afterEffect">
                                  <p:stCondLst>
                                    <p:cond delay="0"/>
                                  </p:stCondLst>
                                  <p:iterate type="wd">
                                    <p:tmAbs val="10"/>
                                  </p:iterate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593"/>
                            </p:stCondLst>
                            <p:childTnLst>
                              <p:par>
                                <p:cTn id="47" presetID="1" presetClass="exit" presetSubtype="0" fill="hold" grpId="1" nodeType="afterEffect">
                                  <p:stCondLst>
                                    <p:cond delay="0"/>
                                  </p:stCondLst>
                                  <p:iterate type="wd">
                                    <p:tmAbs val="10"/>
                                  </p:iterate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624"/>
                            </p:stCondLst>
                            <p:childTnLst>
                              <p:par>
                                <p:cTn id="50" presetID="1" presetClass="exit" presetSubtype="0" fill="hold" grpId="1" nodeType="afterEffect">
                                  <p:stCondLst>
                                    <p:cond delay="0"/>
                                  </p:stCondLst>
                                  <p:iterate type="wd">
                                    <p:tmAbs val="10"/>
                                  </p:iterate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675"/>
                            </p:stCondLst>
                            <p:childTnLst>
                              <p:par>
                                <p:cTn id="53" presetID="1" presetClass="exit" presetSubtype="0" fill="hold" grpId="1" nodeType="afterEffect">
                                  <p:stCondLst>
                                    <p:cond delay="0"/>
                                  </p:stCondLst>
                                  <p:iterate type="wd">
                                    <p:tmAbs val="10"/>
                                  </p:iterate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2" grpId="1"/>
      <p:bldP spid="3" grpId="0" uiExpand="1" build="p"/>
      <p:bldP spid="3" grpId="1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167271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Cím 1">
            <a:extLst>
              <a:ext uri="{FF2B5EF4-FFF2-40B4-BE49-F238E27FC236}">
                <a16:creationId xmlns:a16="http://schemas.microsoft.com/office/drawing/2014/main" id="{C67305DF-B929-3FD1-3AC3-A2F83AD0B4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987" y="1153572"/>
            <a:ext cx="3585247" cy="4461163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rgbClr val="FFFFFF"/>
                </a:solidFill>
              </a:rPr>
              <a:t>API </a:t>
            </a:r>
            <a:r>
              <a:rPr lang="en-US" dirty="0" err="1">
                <a:solidFill>
                  <a:srgbClr val="FFFFFF"/>
                </a:solidFill>
              </a:rPr>
              <a:t>és</a:t>
            </a:r>
            <a:r>
              <a:rPr lang="en-US" dirty="0">
                <a:solidFill>
                  <a:srgbClr val="FFFFFF"/>
                </a:solidFill>
              </a:rPr>
              <a:t> </a:t>
            </a:r>
            <a:r>
              <a:rPr lang="en-US" dirty="0" err="1">
                <a:solidFill>
                  <a:srgbClr val="FFFFFF"/>
                </a:solidFill>
              </a:rPr>
              <a:t>végpontok</a:t>
            </a:r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7550402" y="245547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F8BCA74B-14E2-AE60-A31A-449F128DBE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47309" y="3860251"/>
            <a:ext cx="6879452" cy="2566497"/>
          </a:xfrm>
        </p:spPr>
        <p:txBody>
          <a:bodyPr anchor="ctr">
            <a:normAutofit/>
          </a:bodyPr>
          <a:lstStyle/>
          <a:p>
            <a:pPr>
              <a:buFontTx/>
              <a:buChar char="-"/>
            </a:pPr>
            <a:r>
              <a:rPr lang="en-US" sz="2400" dirty="0"/>
              <a:t>RESTful HTTP </a:t>
            </a:r>
            <a:r>
              <a:rPr lang="en-US" sz="2400" dirty="0" err="1"/>
              <a:t>metódusok</a:t>
            </a:r>
            <a:r>
              <a:rPr lang="en-US" sz="2400" dirty="0"/>
              <a:t> (GET, POST, PUT, DELETE)</a:t>
            </a:r>
          </a:p>
          <a:p>
            <a:pPr>
              <a:buFontTx/>
              <a:buChar char="-"/>
            </a:pPr>
            <a:r>
              <a:rPr lang="en-US" sz="2400" dirty="0"/>
              <a:t>DRF </a:t>
            </a:r>
            <a:r>
              <a:rPr lang="en-US" sz="2400" dirty="0" err="1"/>
              <a:t>Serializerek</a:t>
            </a:r>
            <a:r>
              <a:rPr lang="en-US" sz="2400" dirty="0"/>
              <a:t> </a:t>
            </a:r>
            <a:r>
              <a:rPr lang="en-US" sz="2400" dirty="0" err="1"/>
              <a:t>használata</a:t>
            </a:r>
            <a:r>
              <a:rPr lang="en-US" sz="2400" dirty="0"/>
              <a:t> a JSON </a:t>
            </a:r>
            <a:r>
              <a:rPr lang="en-US" sz="2400" dirty="0" err="1"/>
              <a:t>formátumhoz</a:t>
            </a:r>
            <a:endParaRPr lang="en-US" sz="2400" dirty="0"/>
          </a:p>
          <a:p>
            <a:pPr>
              <a:buFontTx/>
              <a:buChar char="-"/>
            </a:pPr>
            <a:r>
              <a:rPr lang="en-US" sz="2400" dirty="0" err="1"/>
              <a:t>Biztonságos</a:t>
            </a:r>
            <a:r>
              <a:rPr lang="en-US" sz="2400" dirty="0"/>
              <a:t> </a:t>
            </a:r>
            <a:r>
              <a:rPr lang="en-US" sz="2400" dirty="0" err="1"/>
              <a:t>adatcsere</a:t>
            </a:r>
            <a:r>
              <a:rPr lang="en-US" sz="2400" dirty="0"/>
              <a:t> a frontend </a:t>
            </a:r>
            <a:r>
              <a:rPr lang="en-US" sz="2400" dirty="0" err="1"/>
              <a:t>és</a:t>
            </a:r>
            <a:r>
              <a:rPr lang="en-US" sz="2400" dirty="0"/>
              <a:t> backend </a:t>
            </a:r>
            <a:r>
              <a:rPr lang="en-US" sz="2400" dirty="0" err="1"/>
              <a:t>között</a:t>
            </a:r>
            <a:endParaRPr lang="en-US" sz="2400" dirty="0"/>
          </a:p>
        </p:txBody>
      </p:sp>
      <p:pic>
        <p:nvPicPr>
          <p:cNvPr id="5" name="Kép 4">
            <a:extLst>
              <a:ext uri="{FF2B5EF4-FFF2-40B4-BE49-F238E27FC236}">
                <a16:creationId xmlns:a16="http://schemas.microsoft.com/office/drawing/2014/main" id="{22B99A5D-E50A-4F81-BFBB-2C824E3F2E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43367" y="319406"/>
            <a:ext cx="3846646" cy="3346441"/>
          </a:xfrm>
          <a:prstGeom prst="rect">
            <a:avLst/>
          </a:prstGeom>
          <a:ln w="47625"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100000">
                  <a:schemeClr val="accent2"/>
                </a:gs>
              </a:gsLst>
              <a:lin ang="0" scaled="0"/>
            </a:gradFill>
          </a:ln>
        </p:spPr>
      </p:pic>
      <p:pic>
        <p:nvPicPr>
          <p:cNvPr id="7" name="Kép 6">
            <a:extLst>
              <a:ext uri="{FF2B5EF4-FFF2-40B4-BE49-F238E27FC236}">
                <a16:creationId xmlns:a16="http://schemas.microsoft.com/office/drawing/2014/main" id="{D3B2F16C-7DF1-4D39-9529-56DB21C9359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07861" y="319088"/>
            <a:ext cx="3846646" cy="3346759"/>
          </a:xfrm>
          <a:prstGeom prst="rect">
            <a:avLst/>
          </a:prstGeom>
          <a:ln w="47625"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100000">
                  <a:schemeClr val="accent2"/>
                </a:gs>
              </a:gsLst>
              <a:lin ang="10800000" scaled="0"/>
            </a:gradFill>
          </a:ln>
        </p:spPr>
      </p:pic>
    </p:spTree>
    <p:extLst>
      <p:ext uri="{BB962C8B-B14F-4D97-AF65-F5344CB8AC3E}">
        <p14:creationId xmlns:p14="http://schemas.microsoft.com/office/powerpoint/2010/main" val="28137065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Abs val="5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651"/>
                            </p:stCondLst>
                            <p:childTnLst>
                              <p:par>
                                <p:cTn id="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Abs val="5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202"/>
                            </p:stCondLst>
                            <p:childTnLst>
                              <p:par>
                                <p:cTn id="1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Abs val="50"/>
                                  </p:iterate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453"/>
                            </p:stCondLst>
                            <p:childTnLst>
                              <p:par>
                                <p:cTn id="1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Abs val="50"/>
                                  </p:iterate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754"/>
                            </p:stCondLst>
                            <p:childTnLst>
                              <p:par>
                                <p:cTn id="1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10"/>
                                  </p:iterate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iterate type="wd">
                                    <p:tmAbs val="10"/>
                                  </p:iterate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iterate type="wd">
                                    <p:tmAbs val="10"/>
                                  </p:iterate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iterate type="wd">
                                    <p:tmAbs val="10"/>
                                  </p:iterate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22" presetClass="exit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3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" presetID="22" presetClass="exit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right)">
                                      <p:cBhvr>
                                        <p:cTn id="3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2" grpId="1"/>
      <p:bldP spid="3" grpId="0" build="p"/>
      <p:bldP spid="3" grpId="1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167271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Cím 1">
            <a:extLst>
              <a:ext uri="{FF2B5EF4-FFF2-40B4-BE49-F238E27FC236}">
                <a16:creationId xmlns:a16="http://schemas.microsoft.com/office/drawing/2014/main" id="{C67305DF-B929-3FD1-3AC3-A2F83AD0B4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987" y="1153572"/>
            <a:ext cx="3585247" cy="4461163"/>
          </a:xfrm>
        </p:spPr>
        <p:txBody>
          <a:bodyPr>
            <a:normAutofit/>
          </a:bodyPr>
          <a:lstStyle/>
          <a:p>
            <a:r>
              <a:rPr lang="hu-HU" dirty="0">
                <a:solidFill>
                  <a:srgbClr val="FFFFFF"/>
                </a:solidFill>
              </a:rPr>
              <a:t>Fejlesztési lehetőségek</a:t>
            </a:r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7550402" y="245547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F8BCA74B-14E2-AE60-A31A-449F128DBE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68015" y="2145751"/>
            <a:ext cx="6879452" cy="2566497"/>
          </a:xfrm>
        </p:spPr>
        <p:txBody>
          <a:bodyPr anchor="ctr">
            <a:normAutofit/>
          </a:bodyPr>
          <a:lstStyle/>
          <a:p>
            <a:pPr>
              <a:buFontTx/>
              <a:buChar char="-"/>
            </a:pPr>
            <a:r>
              <a:rPr lang="hu-HU" dirty="0"/>
              <a:t>Natív alkalmazás fejlesztése</a:t>
            </a:r>
          </a:p>
          <a:p>
            <a:pPr>
              <a:buFontTx/>
              <a:buChar char="-"/>
            </a:pPr>
            <a:r>
              <a:rPr lang="hu-HU" dirty="0"/>
              <a:t>E-mailes értesítések</a:t>
            </a:r>
          </a:p>
          <a:p>
            <a:pPr>
              <a:buFontTx/>
              <a:buChar char="-"/>
            </a:pPr>
            <a:r>
              <a:rPr lang="hu-HU" dirty="0"/>
              <a:t>AI asszisztens ?</a:t>
            </a:r>
          </a:p>
        </p:txBody>
      </p:sp>
    </p:spTree>
    <p:extLst>
      <p:ext uri="{BB962C8B-B14F-4D97-AF65-F5344CB8AC3E}">
        <p14:creationId xmlns:p14="http://schemas.microsoft.com/office/powerpoint/2010/main" val="30988559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Abs val="5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1051"/>
                            </p:stCondLst>
                            <p:childTnLst>
                              <p:par>
                                <p:cTn id="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Abs val="5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152"/>
                            </p:stCondLst>
                            <p:childTnLst>
                              <p:par>
                                <p:cTn id="1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Abs val="50"/>
                                  </p:iterate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203"/>
                            </p:stCondLst>
                            <p:childTnLst>
                              <p:par>
                                <p:cTn id="1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Abs val="50"/>
                                  </p:iterate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10"/>
                                  </p:iterate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11"/>
                            </p:stCondLst>
                            <p:childTnLst>
                              <p:par>
                                <p:cTn id="21" presetID="1" presetClass="exit" presetSubtype="0" fill="hold" grpId="1" nodeType="afterEffect">
                                  <p:stCondLst>
                                    <p:cond delay="0"/>
                                  </p:stCondLst>
                                  <p:iterate type="wd">
                                    <p:tmAbs val="10"/>
                                  </p:iterate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232"/>
                            </p:stCondLst>
                            <p:childTnLst>
                              <p:par>
                                <p:cTn id="24" presetID="1" presetClass="exit" presetSubtype="0" fill="hold" grpId="1" nodeType="afterEffect">
                                  <p:stCondLst>
                                    <p:cond delay="0"/>
                                  </p:stCondLst>
                                  <p:iterate type="wd">
                                    <p:tmAbs val="10"/>
                                  </p:iterate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243"/>
                            </p:stCondLst>
                            <p:childTnLst>
                              <p:par>
                                <p:cTn id="27" presetID="1" presetClass="exit" presetSubtype="0" fill="hold" grpId="1" nodeType="afterEffect">
                                  <p:stCondLst>
                                    <p:cond delay="0"/>
                                  </p:stCondLst>
                                  <p:iterate type="wd">
                                    <p:tmAbs val="10"/>
                                  </p:iterate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2" grpId="1"/>
      <p:bldP spid="3" grpId="0" uiExpand="1" build="p"/>
      <p:bldP spid="3" grpId="1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B5BF479-E956-3376-F084-66F54FA4B8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285CAFB2-0DBB-4A59-67CF-27674534E6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7" name="Arc 16">
            <a:extLst>
              <a:ext uri="{FF2B5EF4-FFF2-40B4-BE49-F238E27FC236}">
                <a16:creationId xmlns:a16="http://schemas.microsoft.com/office/drawing/2014/main" id="{94ED4F00-F8B9-F8BF-5400-7247F60D15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525836" y="775849"/>
            <a:ext cx="2987899" cy="2987899"/>
          </a:xfrm>
          <a:prstGeom prst="arc">
            <a:avLst>
              <a:gd name="adj1" fmla="val 14441841"/>
              <a:gd name="adj2" fmla="val 0"/>
            </a:avLst>
          </a:prstGeom>
          <a:ln w="127000" cap="rnd">
            <a:solidFill>
              <a:schemeClr val="accent4"/>
            </a:solidFill>
            <a:prstDash val="dash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Alcím 2">
            <a:extLst>
              <a:ext uri="{FF2B5EF4-FFF2-40B4-BE49-F238E27FC236}">
                <a16:creationId xmlns:a16="http://schemas.microsoft.com/office/drawing/2014/main" id="{0B4A7837-F038-7D21-A290-70A1CA85228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508749" y="3071125"/>
            <a:ext cx="5298883" cy="715748"/>
          </a:xfrm>
        </p:spPr>
        <p:txBody>
          <a:bodyPr>
            <a:noAutofit/>
          </a:bodyPr>
          <a:lstStyle/>
          <a:p>
            <a:r>
              <a:rPr lang="en-US" sz="5400" dirty="0" err="1">
                <a:solidFill>
                  <a:srgbClr val="FFFFFF"/>
                </a:solidFill>
              </a:rPr>
              <a:t>Demó</a:t>
            </a:r>
            <a:r>
              <a:rPr lang="en-US" sz="5400" dirty="0">
                <a:solidFill>
                  <a:srgbClr val="FFFFFF"/>
                </a:solidFill>
              </a:rPr>
              <a:t> </a:t>
            </a:r>
            <a:r>
              <a:rPr lang="en-US" sz="5400" dirty="0" err="1">
                <a:solidFill>
                  <a:srgbClr val="FFFFFF"/>
                </a:solidFill>
              </a:rPr>
              <a:t>bemutató</a:t>
            </a:r>
            <a:endParaRPr lang="en-US" sz="5400" dirty="0">
              <a:solidFill>
                <a:srgbClr val="FFFFFF"/>
              </a:solidFill>
            </a:endParaRP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63AD95E9-C6E8-CDAC-71B9-C7599A2F12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4368" y="366810"/>
            <a:ext cx="6124381" cy="6124381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Ábra 4">
            <a:extLst>
              <a:ext uri="{FF2B5EF4-FFF2-40B4-BE49-F238E27FC236}">
                <a16:creationId xmlns:a16="http://schemas.microsoft.com/office/drawing/2014/main" id="{C1029453-8E8C-78E4-4FE2-8257563F7D9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39673" y="2651056"/>
            <a:ext cx="6013769" cy="1555887"/>
          </a:xfrm>
          <a:custGeom>
            <a:avLst/>
            <a:gdLst/>
            <a:ahLst/>
            <a:cxnLst/>
            <a:rect l="l" t="t" r="r" b="b"/>
            <a:pathLst>
              <a:path w="4273177" h="4470400">
                <a:moveTo>
                  <a:pt x="75080" y="0"/>
                </a:moveTo>
                <a:lnTo>
                  <a:pt x="4198097" y="0"/>
                </a:lnTo>
                <a:cubicBezTo>
                  <a:pt x="4239563" y="0"/>
                  <a:pt x="4273177" y="33614"/>
                  <a:pt x="4273177" y="75080"/>
                </a:cubicBezTo>
                <a:lnTo>
                  <a:pt x="4273177" y="4395320"/>
                </a:lnTo>
                <a:cubicBezTo>
                  <a:pt x="4273177" y="4436786"/>
                  <a:pt x="4239563" y="4470400"/>
                  <a:pt x="4198097" y="4470400"/>
                </a:cubicBezTo>
                <a:lnTo>
                  <a:pt x="75080" y="4470400"/>
                </a:lnTo>
                <a:cubicBezTo>
                  <a:pt x="33614" y="4470400"/>
                  <a:pt x="0" y="4436786"/>
                  <a:pt x="0" y="4395320"/>
                </a:cubicBezTo>
                <a:lnTo>
                  <a:pt x="0" y="75080"/>
                </a:lnTo>
                <a:cubicBezTo>
                  <a:pt x="0" y="33614"/>
                  <a:pt x="33614" y="0"/>
                  <a:pt x="75080" y="0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2505645719"/>
      </p:ext>
    </p:extLst>
  </p:cSld>
  <p:clrMapOvr>
    <a:masterClrMapping/>
  </p:clrMapOvr>
  <p:transition spd="slow">
    <p:push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3" grpId="1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167271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7550402" y="245547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026" name="Picture 2" descr="Black - Simple English Wikipedia, the free encyclopedia">
            <a:extLst>
              <a:ext uri="{FF2B5EF4-FFF2-40B4-BE49-F238E27FC236}">
                <a16:creationId xmlns:a16="http://schemas.microsoft.com/office/drawing/2014/main" id="{2E03F39C-6C53-4145-BC63-1C97584583B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5482" y="452284"/>
            <a:ext cx="11421037" cy="6040591"/>
          </a:xfrm>
          <a:prstGeom prst="rect">
            <a:avLst/>
          </a:prstGeom>
          <a:noFill/>
          <a:ln w="47625">
            <a:gradFill>
              <a:gsLst>
                <a:gs pos="50000">
                  <a:schemeClr val="accent1">
                    <a:lumMod val="5000"/>
                    <a:lumOff val="95000"/>
                  </a:schemeClr>
                </a:gs>
                <a:gs pos="0">
                  <a:schemeClr val="accent2"/>
                </a:gs>
                <a:gs pos="100000">
                  <a:schemeClr val="accent2"/>
                </a:gs>
              </a:gsLst>
              <a:lin ang="7200000" scaled="0"/>
            </a:gra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artalom helye 2">
            <a:extLst>
              <a:ext uri="{FF2B5EF4-FFF2-40B4-BE49-F238E27FC236}">
                <a16:creationId xmlns:a16="http://schemas.microsoft.com/office/drawing/2014/main" id="{A6EE8C8C-41FB-145E-9F8E-9C058C573C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5481" y="591344"/>
            <a:ext cx="11421037" cy="5585619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en-US" dirty="0" err="1">
                <a:solidFill>
                  <a:schemeClr val="bg1"/>
                </a:solidFill>
              </a:rPr>
              <a:t>Készítés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alatt</a:t>
            </a:r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17505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3301E07F-4F79-4B58-8698-EF24DC1ECD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7" name="Arc 16">
            <a:extLst>
              <a:ext uri="{FF2B5EF4-FFF2-40B4-BE49-F238E27FC236}">
                <a16:creationId xmlns:a16="http://schemas.microsoft.com/office/drawing/2014/main" id="{E58B2195-5055-402F-A3E7-53FF0E4980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525836" y="775849"/>
            <a:ext cx="2987899" cy="2987899"/>
          </a:xfrm>
          <a:prstGeom prst="arc">
            <a:avLst>
              <a:gd name="adj1" fmla="val 14441841"/>
              <a:gd name="adj2" fmla="val 0"/>
            </a:avLst>
          </a:prstGeom>
          <a:ln w="127000" cap="rnd">
            <a:solidFill>
              <a:schemeClr val="accent4"/>
            </a:solidFill>
            <a:prstDash val="dash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Alcím 2">
            <a:extLst>
              <a:ext uri="{FF2B5EF4-FFF2-40B4-BE49-F238E27FC236}">
                <a16:creationId xmlns:a16="http://schemas.microsoft.com/office/drawing/2014/main" id="{2D9053FA-3283-4FAA-064D-5332D10D3E7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508749" y="3071125"/>
            <a:ext cx="5298883" cy="715748"/>
          </a:xfrm>
        </p:spPr>
        <p:txBody>
          <a:bodyPr>
            <a:noAutofit/>
          </a:bodyPr>
          <a:lstStyle/>
          <a:p>
            <a:r>
              <a:rPr lang="hu-HU" sz="5400" dirty="0">
                <a:solidFill>
                  <a:srgbClr val="FFFFFF"/>
                </a:solidFill>
              </a:rPr>
              <a:t>Kérdések?</a:t>
            </a:r>
            <a:endParaRPr lang="en-US" sz="5400" dirty="0">
              <a:solidFill>
                <a:srgbClr val="FFFFFF"/>
              </a:solidFill>
            </a:endParaRP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9EE6F773-742A-491A-9A00-A2A150DF50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4368" y="366810"/>
            <a:ext cx="6124381" cy="6124381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Ábra 4">
            <a:extLst>
              <a:ext uri="{FF2B5EF4-FFF2-40B4-BE49-F238E27FC236}">
                <a16:creationId xmlns:a16="http://schemas.microsoft.com/office/drawing/2014/main" id="{9E90E75E-1151-4DA5-DCD4-168996382F4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39673" y="2651056"/>
            <a:ext cx="6013769" cy="1555887"/>
          </a:xfrm>
          <a:custGeom>
            <a:avLst/>
            <a:gdLst/>
            <a:ahLst/>
            <a:cxnLst/>
            <a:rect l="l" t="t" r="r" b="b"/>
            <a:pathLst>
              <a:path w="4273177" h="4470400">
                <a:moveTo>
                  <a:pt x="75080" y="0"/>
                </a:moveTo>
                <a:lnTo>
                  <a:pt x="4198097" y="0"/>
                </a:lnTo>
                <a:cubicBezTo>
                  <a:pt x="4239563" y="0"/>
                  <a:pt x="4273177" y="33614"/>
                  <a:pt x="4273177" y="75080"/>
                </a:cubicBezTo>
                <a:lnTo>
                  <a:pt x="4273177" y="4395320"/>
                </a:lnTo>
                <a:cubicBezTo>
                  <a:pt x="4273177" y="4436786"/>
                  <a:pt x="4239563" y="4470400"/>
                  <a:pt x="4198097" y="4470400"/>
                </a:cubicBezTo>
                <a:lnTo>
                  <a:pt x="75080" y="4470400"/>
                </a:lnTo>
                <a:cubicBezTo>
                  <a:pt x="33614" y="4470400"/>
                  <a:pt x="0" y="4436786"/>
                  <a:pt x="0" y="4395320"/>
                </a:cubicBezTo>
                <a:lnTo>
                  <a:pt x="0" y="75080"/>
                </a:lnTo>
                <a:cubicBezTo>
                  <a:pt x="0" y="33614"/>
                  <a:pt x="33614" y="0"/>
                  <a:pt x="75080" y="0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2645047624"/>
      </p:ext>
    </p:extLst>
  </p:cSld>
  <p:clrMapOvr>
    <a:masterClrMapping/>
  </p:clrMapOvr>
  <p:transition spd="slow">
    <p:push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3" grpId="1" build="p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3301E07F-4F79-4B58-8698-EF24DC1ECD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7" name="Arc 16">
            <a:extLst>
              <a:ext uri="{FF2B5EF4-FFF2-40B4-BE49-F238E27FC236}">
                <a16:creationId xmlns:a16="http://schemas.microsoft.com/office/drawing/2014/main" id="{E58B2195-5055-402F-A3E7-53FF0E4980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525836" y="775849"/>
            <a:ext cx="2987899" cy="2987899"/>
          </a:xfrm>
          <a:prstGeom prst="arc">
            <a:avLst>
              <a:gd name="adj1" fmla="val 14441841"/>
              <a:gd name="adj2" fmla="val 0"/>
            </a:avLst>
          </a:prstGeom>
          <a:ln w="127000" cap="rnd">
            <a:solidFill>
              <a:schemeClr val="accent4"/>
            </a:solidFill>
            <a:prstDash val="dash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Alcím 2">
            <a:extLst>
              <a:ext uri="{FF2B5EF4-FFF2-40B4-BE49-F238E27FC236}">
                <a16:creationId xmlns:a16="http://schemas.microsoft.com/office/drawing/2014/main" id="{2D9053FA-3283-4FAA-064D-5332D10D3E7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508749" y="3048000"/>
            <a:ext cx="5298883" cy="2483224"/>
          </a:xfrm>
        </p:spPr>
        <p:txBody>
          <a:bodyPr>
            <a:normAutofit/>
          </a:bodyPr>
          <a:lstStyle/>
          <a:p>
            <a:r>
              <a:rPr lang="hu-HU" sz="4400" dirty="0">
                <a:solidFill>
                  <a:srgbClr val="FFFFFF"/>
                </a:solidFill>
              </a:rPr>
              <a:t>Köszönjük a figyelmet!</a:t>
            </a:r>
            <a:endParaRPr lang="en-US" sz="4400" dirty="0">
              <a:solidFill>
                <a:srgbClr val="FFFFFF"/>
              </a:solidFill>
            </a:endParaRP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9EE6F773-742A-491A-9A00-A2A150DF50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4368" y="366810"/>
            <a:ext cx="6124381" cy="6124381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Ábra 4">
            <a:extLst>
              <a:ext uri="{FF2B5EF4-FFF2-40B4-BE49-F238E27FC236}">
                <a16:creationId xmlns:a16="http://schemas.microsoft.com/office/drawing/2014/main" id="{9E90E75E-1151-4DA5-DCD4-168996382F4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39673" y="2651056"/>
            <a:ext cx="6013769" cy="1555887"/>
          </a:xfrm>
          <a:custGeom>
            <a:avLst/>
            <a:gdLst/>
            <a:ahLst/>
            <a:cxnLst/>
            <a:rect l="l" t="t" r="r" b="b"/>
            <a:pathLst>
              <a:path w="4273177" h="4470400">
                <a:moveTo>
                  <a:pt x="75080" y="0"/>
                </a:moveTo>
                <a:lnTo>
                  <a:pt x="4198097" y="0"/>
                </a:lnTo>
                <a:cubicBezTo>
                  <a:pt x="4239563" y="0"/>
                  <a:pt x="4273177" y="33614"/>
                  <a:pt x="4273177" y="75080"/>
                </a:cubicBezTo>
                <a:lnTo>
                  <a:pt x="4273177" y="4395320"/>
                </a:lnTo>
                <a:cubicBezTo>
                  <a:pt x="4273177" y="4436786"/>
                  <a:pt x="4239563" y="4470400"/>
                  <a:pt x="4198097" y="4470400"/>
                </a:cubicBezTo>
                <a:lnTo>
                  <a:pt x="75080" y="4470400"/>
                </a:lnTo>
                <a:cubicBezTo>
                  <a:pt x="33614" y="4470400"/>
                  <a:pt x="0" y="4436786"/>
                  <a:pt x="0" y="4395320"/>
                </a:cubicBezTo>
                <a:lnTo>
                  <a:pt x="0" y="75080"/>
                </a:lnTo>
                <a:cubicBezTo>
                  <a:pt x="0" y="33614"/>
                  <a:pt x="33614" y="0"/>
                  <a:pt x="75080" y="0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25921402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theme/theme1.xml><?xml version="1.0" encoding="utf-8"?>
<a:theme xmlns:a="http://schemas.openxmlformats.org/drawingml/2006/main" name="Office-tém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61</TotalTime>
  <Words>306</Words>
  <Application>Microsoft Office PowerPoint</Application>
  <PresentationFormat>Widescreen</PresentationFormat>
  <Paragraphs>70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1" baseType="lpstr">
      <vt:lpstr>Aptos</vt:lpstr>
      <vt:lpstr>Aptos Display</vt:lpstr>
      <vt:lpstr>Arial</vt:lpstr>
      <vt:lpstr>Calibri</vt:lpstr>
      <vt:lpstr>Office-téma</vt:lpstr>
      <vt:lpstr>PowerPoint Presentation</vt:lpstr>
      <vt:lpstr>A probléma és a megoldás</vt:lpstr>
      <vt:lpstr>Munkamegosztás</vt:lpstr>
      <vt:lpstr>Csapatmunka és kommunikáció</vt:lpstr>
      <vt:lpstr>A program fő funkciói</vt:lpstr>
      <vt:lpstr>A program fő funkciói</vt:lpstr>
      <vt:lpstr>Reszponzivitás és Frontend</vt:lpstr>
      <vt:lpstr>Fejlesztői és E2E (End-to-End) tesztelés</vt:lpstr>
      <vt:lpstr>Backend technológiák</vt:lpstr>
      <vt:lpstr>Modellek és Adatbázis</vt:lpstr>
      <vt:lpstr>API és végpontok</vt:lpstr>
      <vt:lpstr>Fejlesztési lehetőségek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PowerPoint-bemutató</dc:title>
  <dc:creator>Imre Fesető</dc:creator>
  <cp:lastModifiedBy>Kamill Kapus</cp:lastModifiedBy>
  <cp:revision>25</cp:revision>
  <dcterms:created xsi:type="dcterms:W3CDTF">2026-03-05T18:16:11Z</dcterms:created>
  <dcterms:modified xsi:type="dcterms:W3CDTF">2026-03-30T18:52:14Z</dcterms:modified>
</cp:coreProperties>
</file>