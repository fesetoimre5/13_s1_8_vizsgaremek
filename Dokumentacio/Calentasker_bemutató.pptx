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04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0738" y="1098817"/>
            <a:ext cx="4467792" cy="43927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Készítették: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5E264C1-8C10-4C84-9B3F-8A527F44B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738" y="1662014"/>
            <a:ext cx="2012284" cy="2980737"/>
          </a:xfrm>
          <a:prstGeom prst="rect">
            <a:avLst/>
          </a:prstGeom>
        </p:spPr>
      </p:pic>
      <p:sp>
        <p:nvSpPr>
          <p:cNvPr id="9" name="Alcím 2">
            <a:extLst>
              <a:ext uri="{FF2B5EF4-FFF2-40B4-BE49-F238E27FC236}">
                <a16:creationId xmlns:a16="http://schemas.microsoft.com/office/drawing/2014/main" id="{834699FE-3646-4E2F-A870-49DC649969A5}"/>
              </a:ext>
            </a:extLst>
          </p:cNvPr>
          <p:cNvSpPr txBox="1">
            <a:spLocks/>
          </p:cNvSpPr>
          <p:nvPr/>
        </p:nvSpPr>
        <p:spPr>
          <a:xfrm>
            <a:off x="7203738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Fesető Imre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17B1F76-80AF-4AF2-9D84-722FABB41011}"/>
              </a:ext>
            </a:extLst>
          </p:cNvPr>
          <p:cNvSpPr txBox="1">
            <a:spLocks/>
          </p:cNvSpPr>
          <p:nvPr/>
        </p:nvSpPr>
        <p:spPr>
          <a:xfrm>
            <a:off x="9501451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Kapus Kamill Kevin</a:t>
            </a:r>
            <a:endParaRPr lang="en-US" sz="16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probléma és a megoldás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45DC2CF-2687-4F0C-94CB-34C91A014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058" y="319088"/>
            <a:ext cx="6266475" cy="287689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1000"/>
                  <a:lumMod val="0"/>
                  <a:lumOff val="10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 w="476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2"/>
                </a:gs>
                <a:gs pos="72000">
                  <a:schemeClr val="accent2"/>
                </a:gs>
                <a:gs pos="100000">
                  <a:schemeClr val="bg1"/>
                </a:gs>
              </a:gsLst>
              <a:lin ang="7200000" scaled="0"/>
            </a:gradFill>
          </a:ln>
          <a:effectLst/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020" y="3300064"/>
            <a:ext cx="6906491" cy="28768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hu-HU" sz="2400" dirty="0"/>
              <a:t>Probléma: A feladatok kezelése gyakran átláthatatlan.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Probléma: Több különálló alkalmazásra van szükség.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Megoldás: </a:t>
            </a:r>
            <a:r>
              <a:rPr lang="hu-HU" sz="2400" dirty="0" err="1"/>
              <a:t>Calentasker</a:t>
            </a:r>
            <a:r>
              <a:rPr lang="hu-HU" sz="2400" dirty="0"/>
              <a:t> - központi platform a teendőkhöz.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Személyes és csoportos feladatok egy helyen.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Zökkenőmentes csoportos együttműködés.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C133509-C5A5-4B10-8D2A-A46567FD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55" y="61071"/>
            <a:ext cx="5630944" cy="257339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9400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4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714161"/>
            <a:ext cx="5893896" cy="2462801"/>
          </a:xfrm>
        </p:spPr>
        <p:txBody>
          <a:bodyPr anchor="ctr">
            <a:normAutofit fontScale="85000" lnSpcReduction="20000"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FD448E6-1495-479B-94C6-028E827A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845" y="1140770"/>
            <a:ext cx="5618131" cy="2573391"/>
          </a:xfrm>
          <a:prstGeom prst="rect">
            <a:avLst/>
          </a:prstGeom>
          <a:ln w="41275"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8000">
                  <a:srgbClr val="EB9568">
                    <a:alpha val="0"/>
                  </a:srgbClr>
                </a:gs>
                <a:gs pos="100000">
                  <a:schemeClr val="accent2"/>
                </a:gs>
              </a:gsLst>
              <a:lin ang="3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494EE7-4E52-4345-9C63-BBC578C0B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140" y="176100"/>
            <a:ext cx="5574906" cy="2565212"/>
          </a:xfrm>
          <a:prstGeom prst="rect">
            <a:avLst/>
          </a:prstGeom>
          <a:ln w="47625">
            <a:gradFill>
              <a:gsLst>
                <a:gs pos="0">
                  <a:schemeClr val="bg1">
                    <a:alpha val="0"/>
                  </a:scheme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1800000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1E981F4-BC69-4490-89DE-EECDBF594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682" y="1331560"/>
            <a:ext cx="5543499" cy="2533428"/>
          </a:xfrm>
          <a:prstGeom prst="rect">
            <a:avLst/>
          </a:prstGeom>
          <a:ln w="47625">
            <a:gradFill>
              <a:gsLst>
                <a:gs pos="27000">
                  <a:srgbClr val="FDF0E9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7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893269"/>
            <a:ext cx="6035298" cy="2283693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Backend technológiák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1382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Python &amp; Django 5.2</a:t>
            </a:r>
          </a:p>
          <a:p>
            <a:pPr>
              <a:buFontTx/>
              <a:buChar char="-"/>
            </a:pPr>
            <a:r>
              <a:rPr lang="en-US" dirty="0"/>
              <a:t>Django REST Framework (DRF)</a:t>
            </a:r>
          </a:p>
          <a:p>
            <a:pPr>
              <a:buFontTx/>
              <a:buChar char="-"/>
            </a:pPr>
            <a:r>
              <a:rPr lang="en-US" dirty="0"/>
              <a:t>Token-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hitelesítés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CORS</a:t>
            </a:r>
          </a:p>
          <a:p>
            <a:pPr>
              <a:buFontTx/>
              <a:buChar char="-"/>
            </a:pPr>
            <a:r>
              <a:rPr lang="en-US" dirty="0"/>
              <a:t>SMTP </a:t>
            </a:r>
            <a:r>
              <a:rPr lang="en-US" dirty="0" err="1"/>
              <a:t>szolgáltatás</a:t>
            </a:r>
            <a:r>
              <a:rPr lang="en-US" dirty="0"/>
              <a:t> e-mail </a:t>
            </a:r>
            <a:r>
              <a:rPr lang="en-US" dirty="0" err="1"/>
              <a:t>megerősítéshez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SQLite3 </a:t>
            </a:r>
            <a:r>
              <a:rPr lang="en-US" dirty="0" err="1"/>
              <a:t>adatbáziskezelő</a:t>
            </a:r>
            <a:endParaRPr lang="en-US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1B1D6C10-5F81-4232-B98A-B5B8D013E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2994" y="4488008"/>
            <a:ext cx="1574276" cy="157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jango REST framework">
            <a:extLst>
              <a:ext uri="{FF2B5EF4-FFF2-40B4-BE49-F238E27FC236}">
                <a16:creationId xmlns:a16="http://schemas.microsoft.com/office/drawing/2014/main" id="{4F3CE805-A34D-48D0-B760-52231DED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684" y="4403947"/>
            <a:ext cx="3944234" cy="174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571F20-B508-4A6E-BC77-5F5C9CA15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308" y="4048651"/>
            <a:ext cx="3897631" cy="249026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50000">
                  <a:schemeClr val="bg1">
                    <a:lumMod val="0"/>
                    <a:lumOff val="100000"/>
                  </a:schemeClr>
                </a:gs>
                <a:gs pos="100000">
                  <a:schemeClr val="accent2"/>
                </a:gs>
              </a:gsLst>
              <a:lin ang="12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Modellek és Adatbázis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5F3D4B-91B5-4A10-9F82-338663DEA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563" y="221326"/>
            <a:ext cx="5515389" cy="4468305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48173"/>
            <a:ext cx="6629186" cy="2528790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API és végpontok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10465"/>
            <a:ext cx="5705359" cy="25664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en-US" dirty="0"/>
              <a:t>RESTful HTTP </a:t>
            </a:r>
            <a:r>
              <a:rPr lang="en-US" dirty="0" err="1"/>
              <a:t>metódusok</a:t>
            </a:r>
            <a:r>
              <a:rPr lang="en-US" dirty="0"/>
              <a:t> (GET, POST, PUT, DELETE)</a:t>
            </a:r>
          </a:p>
          <a:p>
            <a:pPr>
              <a:buFontTx/>
              <a:buChar char="-"/>
            </a:pPr>
            <a:r>
              <a:rPr lang="en-US" dirty="0"/>
              <a:t>DRF </a:t>
            </a:r>
            <a:r>
              <a:rPr lang="en-US" dirty="0" err="1"/>
              <a:t>Serializerek</a:t>
            </a:r>
            <a:r>
              <a:rPr lang="en-US" dirty="0"/>
              <a:t> </a:t>
            </a:r>
            <a:r>
              <a:rPr lang="en-US" dirty="0" err="1"/>
              <a:t>használata</a:t>
            </a:r>
            <a:r>
              <a:rPr lang="en-US" dirty="0"/>
              <a:t> a JSON </a:t>
            </a:r>
            <a:r>
              <a:rPr lang="en-US" dirty="0" err="1"/>
              <a:t>formátumhoz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 a frontend </a:t>
            </a:r>
            <a:r>
              <a:rPr lang="en-US" dirty="0" err="1"/>
              <a:t>és</a:t>
            </a:r>
            <a:r>
              <a:rPr lang="en-US" dirty="0"/>
              <a:t> backend </a:t>
            </a:r>
            <a:r>
              <a:rPr lang="en-US" dirty="0" err="1"/>
              <a:t>között</a:t>
            </a:r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B99A5D-E50A-4F81-BFBB-2C824E3F2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815" y="82559"/>
            <a:ext cx="3846646" cy="3346441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B2F16C-7DF1-4D39-9529-56DB21C93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309" y="82241"/>
            <a:ext cx="3846646" cy="3346759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108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Reszponzivitás és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5"/>
            <a:ext cx="6906491" cy="3509168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Vue.js 3 (Vite </a:t>
            </a:r>
            <a:r>
              <a:rPr lang="en-US" dirty="0" err="1"/>
              <a:t>alapokon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Bootstrap 5 </a:t>
            </a:r>
            <a:r>
              <a:rPr lang="en-US" dirty="0" err="1"/>
              <a:t>keretrendszer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"Minden </a:t>
            </a:r>
            <a:r>
              <a:rPr lang="en-US" dirty="0" err="1"/>
              <a:t>eszközre</a:t>
            </a:r>
            <a:r>
              <a:rPr lang="en-US" dirty="0"/>
              <a:t> </a:t>
            </a:r>
            <a:r>
              <a:rPr lang="en-US" dirty="0" err="1"/>
              <a:t>optimalizálva</a:t>
            </a:r>
            <a:r>
              <a:rPr lang="en-US" dirty="0"/>
              <a:t>" (Mobil, Tablet, PC)</a:t>
            </a:r>
          </a:p>
          <a:p>
            <a:pPr>
              <a:buFontTx/>
              <a:buChar char="-"/>
            </a:pPr>
            <a:r>
              <a:rPr lang="en-US" dirty="0"/>
              <a:t>Vue Router a </a:t>
            </a:r>
            <a:r>
              <a:rPr lang="en-US" dirty="0" err="1"/>
              <a:t>navigációhoz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Axios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hívásokhoz</a:t>
            </a:r>
            <a:r>
              <a:rPr lang="en-US" dirty="0"/>
              <a:t>, Vue-i18n a </a:t>
            </a:r>
            <a:r>
              <a:rPr lang="en-US" dirty="0" err="1"/>
              <a:t>lokalizációhoz</a:t>
            </a:r>
            <a:endParaRPr lang="en-US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D2F2581-868C-4476-9315-E6840A827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801" y="4100512"/>
            <a:ext cx="2438400" cy="2438400"/>
          </a:xfrm>
          <a:prstGeom prst="rect">
            <a:avLst/>
          </a:prstGeom>
        </p:spPr>
      </p:pic>
      <p:pic>
        <p:nvPicPr>
          <p:cNvPr id="2052" name="Picture 4" descr="bootstrap-icons - npm">
            <a:extLst>
              <a:ext uri="{FF2B5EF4-FFF2-40B4-BE49-F238E27FC236}">
                <a16:creationId xmlns:a16="http://schemas.microsoft.com/office/drawing/2014/main" id="{FD05DBDD-2C19-431A-A2F5-96003BA4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201" y="4153069"/>
            <a:ext cx="2828226" cy="233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a-DK">
                <a:solidFill>
                  <a:srgbClr val="FFFFFF"/>
                </a:solidFill>
              </a:rPr>
              <a:t>Fejlesztői és E2E (End-to-End) tesztelés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603285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hu-HU" dirty="0"/>
              <a:t>Backend tesztelés: </a:t>
            </a:r>
            <a:r>
              <a:rPr lang="hu-HU" dirty="0" err="1"/>
              <a:t>Django</a:t>
            </a:r>
            <a:r>
              <a:rPr lang="hu-HU" dirty="0"/>
              <a:t> beépített tesztjei (JSON Test </a:t>
            </a:r>
            <a:r>
              <a:rPr lang="hu-HU" dirty="0" err="1"/>
              <a:t>Runner</a:t>
            </a:r>
            <a:r>
              <a:rPr lang="hu-HU" dirty="0"/>
              <a:t>)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API végpontok automatikus ellenőrzése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E2E és UI tesztelés: Robot Framework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Böngészőautomatizálás </a:t>
            </a:r>
            <a:r>
              <a:rPr lang="hu-HU" dirty="0" err="1"/>
              <a:t>Selenium</a:t>
            </a:r>
            <a:r>
              <a:rPr lang="hu-HU" dirty="0"/>
              <a:t> segítségével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Funkciók teljeskörű, felhasználói szintű tesztelése</a:t>
            </a: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F489A47-D9F1-4F28-9A91-2FE18F590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234" y="4079082"/>
            <a:ext cx="2438400" cy="2438400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BE3D1EC-37CC-4C6C-9906-D5F291E92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915" y="4339684"/>
            <a:ext cx="2104539" cy="2199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Helyszíni bemutató / Videó alapú bemutató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eldöntés</a:t>
            </a:r>
            <a:r>
              <a:rPr lang="en-US" dirty="0"/>
              <a:t> </a:t>
            </a:r>
            <a:r>
              <a:rPr lang="en-US" dirty="0" err="1"/>
              <a:t>alatt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919FD-FE43-43ED-99B6-7CB54C1AB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9B55-F0C2-476F-BFEB-37E68CEB04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474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</Words>
  <Application>Microsoft Office PowerPoint</Application>
  <PresentationFormat>Szélesvásznú</PresentationFormat>
  <Paragraphs>53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A program fő funkciói</vt:lpstr>
      <vt:lpstr>A program fő funkciói</vt:lpstr>
      <vt:lpstr>Backend technológiák</vt:lpstr>
      <vt:lpstr>Modellek és Adatbázis</vt:lpstr>
      <vt:lpstr>API és végpontok</vt:lpstr>
      <vt:lpstr>Reszponzivitás és Frontend</vt:lpstr>
      <vt:lpstr>Fejlesztői és E2E (End-to-End) tesztelés</vt:lpstr>
      <vt:lpstr>Helyszíni bemutató / Videó alapú bemutató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Imre Fesető</dc:creator>
  <cp:lastModifiedBy>Kapus Kevin</cp:lastModifiedBy>
  <cp:revision>8</cp:revision>
  <dcterms:created xsi:type="dcterms:W3CDTF">2026-03-05T18:16:11Z</dcterms:created>
  <dcterms:modified xsi:type="dcterms:W3CDTF">2026-03-06T08:01:55Z</dcterms:modified>
</cp:coreProperties>
</file>