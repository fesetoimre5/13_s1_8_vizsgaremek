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357866-75F5-1E85-805E-5432E3B6D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F5900A-ECDE-E330-B25D-2D266A9BF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95758C-14EA-5D6F-CDFA-EE97C59C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0AFC13-BC10-BEC6-C6F0-0B3ECCEF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C5A3CA-8D1B-202C-A302-7DD837C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376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6BB48E-08B9-13C8-5A14-79C3B2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D65A8E-B382-FDA1-2B5D-0C753657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10889E-255D-B696-204B-88ABFCD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D8F06FE-E1B6-AC3D-39BA-6381FD8B0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12AF76B-7A17-E5E7-406A-A09615CAB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79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7A083E-887A-9000-7CF2-063A21B1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244AC7-1EF3-D2F0-A72A-3BFF2CBEE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EB6109-EAAB-3A6B-DEAD-E7A23EBE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40C9346-0235-C329-A164-BF13BC2D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900A09E-A592-A900-8E1D-8B430AFA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5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E48812-626B-6915-691D-31BBA96D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A5B7DA-B165-BF34-4984-942FD440F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312A651-99A0-50F2-E7BB-0CDF6F457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4A7420C-8C59-01EF-4401-59DC80C7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9108B1-AC88-8586-39B9-79838149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735F86C-03E6-FBCC-22BF-F2090AF93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35E5DB-7568-A97C-D7D9-492F5719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017F5B-D714-115B-F39B-866018921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9BB637-EBF2-5ECE-9E4E-10010EA40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83CC896-3359-9A36-CBE4-AB1A8579C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C1CF64A-FF24-95AA-EE32-A0871E24ED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A2511C3-A05F-1E62-30BE-DCF1A39F5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4022FC5-20DF-1086-851A-2CE481B8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04D48E7-9108-E5C8-8D80-6AB89CF7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61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95D5B8-B716-6A8F-4819-671CE91A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E02700-3525-69E4-A4C9-A45ADED6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4BFF6B8-06BD-E3CD-1F8A-13DA7CD2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A7B4BA1-B5EE-72E2-3D6A-F69B9539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67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EA14E2F-22D5-CBBF-C8A8-B60D771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268D8EA-71AC-C6E1-656A-87E8811F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F87ED71-9A7D-6415-6804-C747517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335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0ACA0A-5764-06FB-B135-6DF8D259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6EF96B-69D3-C694-5C28-5901FEA1A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039BF09-A7EE-245A-A4C3-B37090FD7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957270-62F4-2179-1A4C-FE1257BE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993AEDF-E2F6-4D83-4623-6EA325FA7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F979607-15DD-74B7-213A-2D293B075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5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2A5E09-6E7E-099D-2B2C-AE7B36BB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F02CCA7-FA03-B172-156F-49A01C2ACD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6179A05-B4D1-EC97-C750-FABA191D3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936066-DAE5-0EF8-89DB-D3DE0C50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CBF669-E94E-DCF8-6A23-B525BF39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E3A4B35-45FD-B833-35C6-0FAB894F6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2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933A06-9807-D854-451E-62EFAA144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4BCCEC-40AC-6C99-8ED7-3F93AD4A2E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E8C9CE-05C5-6771-36CA-9DF5D21E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042708-06ED-049E-349B-FA2ACFB6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6287A2-9B5C-8815-1B1F-01E75D5C4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85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915423C-A8AA-F072-50D5-5E3AAF53EE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20373E-B9C9-6685-4EEC-203AE6BD6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AF8148-05B1-BF60-CECA-1EBB8C877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410BEBD-4C17-FC88-B1D6-5A1D9DED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3147C4-9331-F2EC-0211-7AAC73DF1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5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447875F-BAF6-963A-48E9-FA79B33F6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B256A38-C1F0-590B-6ACA-EA75C3AEE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F4DE90-B5F2-1D80-1D58-BFAB47450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89980-8C40-4A7C-B87C-A79389D5BD9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8A9ACD9-6FEA-031D-E8AC-947BB14DE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B999D1-FBA4-AFBC-EB99-64BD5B637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7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0738" y="1098817"/>
            <a:ext cx="4467792" cy="43927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Készítették: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5E264C1-8C10-4C84-9B3F-8A527F44BA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738" y="1662014"/>
            <a:ext cx="2012284" cy="2980737"/>
          </a:xfrm>
          <a:prstGeom prst="rect">
            <a:avLst/>
          </a:prstGeom>
        </p:spPr>
      </p:pic>
      <p:sp>
        <p:nvSpPr>
          <p:cNvPr id="9" name="Alcím 2">
            <a:extLst>
              <a:ext uri="{FF2B5EF4-FFF2-40B4-BE49-F238E27FC236}">
                <a16:creationId xmlns:a16="http://schemas.microsoft.com/office/drawing/2014/main" id="{834699FE-3646-4E2F-A870-49DC649969A5}"/>
              </a:ext>
            </a:extLst>
          </p:cNvPr>
          <p:cNvSpPr txBox="1">
            <a:spLocks/>
          </p:cNvSpPr>
          <p:nvPr/>
        </p:nvSpPr>
        <p:spPr>
          <a:xfrm>
            <a:off x="7203738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Fesető Imre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C17B1F76-80AF-4AF2-9D84-722FABB41011}"/>
              </a:ext>
            </a:extLst>
          </p:cNvPr>
          <p:cNvSpPr txBox="1">
            <a:spLocks/>
          </p:cNvSpPr>
          <p:nvPr/>
        </p:nvSpPr>
        <p:spPr>
          <a:xfrm>
            <a:off x="9501451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Kapus Kamill Kevin</a:t>
            </a:r>
            <a:endParaRPr lang="en-US" sz="16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3151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ACC8BAC-E692-4575-74A4-050F1D3D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probléma és a megoldás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45DC2CF-2687-4F0C-94CB-34C91A014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058" y="319088"/>
            <a:ext cx="6266475" cy="2876897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1000"/>
                  <a:lumMod val="0"/>
                  <a:lumOff val="10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 w="47625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2"/>
                </a:gs>
                <a:gs pos="72000">
                  <a:schemeClr val="accent2"/>
                </a:gs>
                <a:gs pos="100000">
                  <a:schemeClr val="bg1"/>
                </a:gs>
              </a:gsLst>
              <a:lin ang="7200000" scaled="0"/>
            </a:gradFill>
          </a:ln>
          <a:effectLst/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492F3E-4C9A-B470-2734-12545BC71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020" y="3300064"/>
            <a:ext cx="6906491" cy="2876897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hu-HU" sz="2400" dirty="0"/>
              <a:t>Probléma: A feladatok kezelése gyakran átláthatatlan.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Probléma: Több különálló alkalmazásra van szükség.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Megoldás: </a:t>
            </a:r>
            <a:r>
              <a:rPr lang="hu-HU" sz="2400" dirty="0" err="1"/>
              <a:t>Calentasker</a:t>
            </a:r>
            <a:r>
              <a:rPr lang="hu-HU" sz="2400" dirty="0"/>
              <a:t> - központi platform a teendőkhöz.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Személyes és csoportos feladatok egy helyen.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Zökkenőmentes csoportos együttműködés.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58463768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1FF5690-D036-0931-7FF5-EB2FD6D17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C133509-C5A5-4B10-8D2A-A46567FDA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855" y="61071"/>
            <a:ext cx="5630944" cy="257339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9400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4200000" scaled="0"/>
            </a:gradFill>
          </a:ln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EC822B-CD46-3AC1-1250-432F0FBE1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714161"/>
            <a:ext cx="5893896" cy="2462801"/>
          </a:xfrm>
        </p:spPr>
        <p:txBody>
          <a:bodyPr anchor="ctr">
            <a:normAutofit fontScale="85000" lnSpcReduction="20000"/>
          </a:bodyPr>
          <a:lstStyle/>
          <a:p>
            <a:pPr>
              <a:buFontTx/>
              <a:buChar char="-"/>
            </a:pPr>
            <a:r>
              <a:rPr lang="en-US" dirty="0" err="1"/>
              <a:t>Felhasználókezelés</a:t>
            </a:r>
            <a:r>
              <a:rPr lang="en-US" dirty="0"/>
              <a:t> (</a:t>
            </a:r>
            <a:r>
              <a:rPr lang="en-US" dirty="0" err="1"/>
              <a:t>regisztráció</a:t>
            </a:r>
            <a:r>
              <a:rPr lang="en-US" dirty="0"/>
              <a:t>, </a:t>
            </a:r>
            <a:r>
              <a:rPr lang="en-US" dirty="0" err="1"/>
              <a:t>bejelentkezés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E-mail </a:t>
            </a:r>
            <a:r>
              <a:rPr lang="en-US" dirty="0" err="1"/>
              <a:t>megerősítés</a:t>
            </a:r>
            <a:r>
              <a:rPr lang="en-US" dirty="0"/>
              <a:t> </a:t>
            </a:r>
            <a:r>
              <a:rPr lang="en-US" dirty="0" err="1"/>
              <a:t>rendszere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Profilkezelés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folyamatának</a:t>
            </a:r>
            <a:r>
              <a:rPr lang="en-US" dirty="0"/>
              <a:t> (</a:t>
            </a:r>
            <a:r>
              <a:rPr lang="en-US" dirty="0" err="1"/>
              <a:t>státuszának</a:t>
            </a:r>
            <a:r>
              <a:rPr lang="en-US" dirty="0"/>
              <a:t>) </a:t>
            </a:r>
            <a:r>
              <a:rPr lang="en-US" dirty="0" err="1"/>
              <a:t>követése</a:t>
            </a: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FD448E6-1495-479B-94C6-028E827A3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845" y="1140770"/>
            <a:ext cx="5618131" cy="2573391"/>
          </a:xfrm>
          <a:prstGeom prst="rect">
            <a:avLst/>
          </a:prstGeom>
          <a:ln w="41275"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8000">
                  <a:srgbClr val="EB9568">
                    <a:alpha val="0"/>
                  </a:srgbClr>
                </a:gs>
                <a:gs pos="100000">
                  <a:schemeClr val="accent2"/>
                </a:gs>
              </a:gsLst>
              <a:lin ang="3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1171686970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02488A2-D637-D4C7-CA36-EF75D66D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494EE7-4E52-4345-9C63-BBC578C0B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140" y="176100"/>
            <a:ext cx="5574906" cy="2565212"/>
          </a:xfrm>
          <a:prstGeom prst="rect">
            <a:avLst/>
          </a:prstGeom>
          <a:ln w="47625">
            <a:gradFill>
              <a:gsLst>
                <a:gs pos="0">
                  <a:schemeClr val="bg1">
                    <a:alpha val="0"/>
                  </a:scheme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1800000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1E981F4-BC69-4490-89DE-EECDBF594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682" y="1331560"/>
            <a:ext cx="5543499" cy="2533428"/>
          </a:xfrm>
          <a:prstGeom prst="rect">
            <a:avLst/>
          </a:prstGeom>
          <a:ln w="47625">
            <a:gradFill>
              <a:gsLst>
                <a:gs pos="27000">
                  <a:srgbClr val="FDF0E9">
                    <a:alpha val="0"/>
                  </a:srgb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7200000" scaled="0"/>
            </a:gradFill>
          </a:ln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7EE2D2-F64A-CEF6-8DF3-AF3F997CA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893269"/>
            <a:ext cx="6035298" cy="2283693"/>
          </a:xfrm>
        </p:spPr>
        <p:txBody>
          <a:bodyPr anchor="ctr"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hu-HU" dirty="0"/>
              <a:t>Csoportok létrehozása és kezelése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Tagok és jogosultságok adminisztrálása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Csoportos feladatok kiosztása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Fájlok és mellékletek csatolása a feladatokhoz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Keresés és szűrés a teendők között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9336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3F851A9-4EEC-5B0B-9A7F-C031BDAB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Backend technológiák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7F7258-08C5-6507-8BA9-00F4E2ADA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31382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Python &amp; Django 5.2</a:t>
            </a:r>
          </a:p>
          <a:p>
            <a:pPr>
              <a:buFontTx/>
              <a:buChar char="-"/>
            </a:pPr>
            <a:r>
              <a:rPr lang="en-US" dirty="0"/>
              <a:t>Django REST Framework (DRF)</a:t>
            </a:r>
          </a:p>
          <a:p>
            <a:pPr>
              <a:buFontTx/>
              <a:buChar char="-"/>
            </a:pPr>
            <a:r>
              <a:rPr lang="en-US" dirty="0"/>
              <a:t>Token-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hitelesítés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CORS</a:t>
            </a:r>
          </a:p>
          <a:p>
            <a:pPr>
              <a:buFontTx/>
              <a:buChar char="-"/>
            </a:pPr>
            <a:r>
              <a:rPr lang="en-US" dirty="0"/>
              <a:t>SMTP </a:t>
            </a:r>
            <a:r>
              <a:rPr lang="en-US" dirty="0" err="1"/>
              <a:t>szolgáltatás</a:t>
            </a:r>
            <a:r>
              <a:rPr lang="en-US" dirty="0"/>
              <a:t> e-mail </a:t>
            </a:r>
            <a:r>
              <a:rPr lang="en-US" dirty="0" err="1"/>
              <a:t>megerősítéshez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SQLite3 </a:t>
            </a:r>
            <a:r>
              <a:rPr lang="en-US" dirty="0" err="1"/>
              <a:t>adatbáziskezelő</a:t>
            </a:r>
            <a:endParaRPr lang="en-US" dirty="0"/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1B1D6C10-5F81-4232-B98A-B5B8D013E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2994" y="4488008"/>
            <a:ext cx="1574276" cy="157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jango REST framework">
            <a:extLst>
              <a:ext uri="{FF2B5EF4-FFF2-40B4-BE49-F238E27FC236}">
                <a16:creationId xmlns:a16="http://schemas.microsoft.com/office/drawing/2014/main" id="{4F3CE805-A34D-48D0-B760-52231DEDF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684" y="4403947"/>
            <a:ext cx="3944234" cy="1742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2571F20-B508-4A6E-BC77-5F5C9CA15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7308" y="4048651"/>
            <a:ext cx="3897631" cy="249026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50000">
                  <a:schemeClr val="bg1">
                    <a:lumMod val="0"/>
                    <a:lumOff val="100000"/>
                  </a:schemeClr>
                </a:gs>
                <a:gs pos="100000">
                  <a:schemeClr val="accent2"/>
                </a:gs>
              </a:gsLst>
              <a:lin ang="12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531156276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444F69-CA14-23F0-8C86-75AE292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Modellek és Adatbázis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95F3D4B-91B5-4A10-9F82-338663DEA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563" y="221326"/>
            <a:ext cx="5515389" cy="4468305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7A211F6-D959-7B64-B84F-C736A25B9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648173"/>
            <a:ext cx="6629186" cy="2528790"/>
          </a:xfrm>
        </p:spPr>
        <p:txBody>
          <a:bodyPr anchor="ctr"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en-US" dirty="0"/>
              <a:t>Users (</a:t>
            </a:r>
            <a:r>
              <a:rPr lang="en-US" dirty="0" err="1"/>
              <a:t>Felhasználók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Groups (</a:t>
            </a:r>
            <a:r>
              <a:rPr lang="en-US" dirty="0" err="1"/>
              <a:t>Csoportok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Tasks (</a:t>
            </a:r>
            <a:r>
              <a:rPr lang="en-US" dirty="0" err="1"/>
              <a:t>Feladatok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Attachments (</a:t>
            </a:r>
            <a:r>
              <a:rPr lang="en-US" dirty="0" err="1"/>
              <a:t>Mellékletek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Django ORM (</a:t>
            </a:r>
            <a:r>
              <a:rPr lang="en-US" dirty="0" err="1"/>
              <a:t>Objektum-relációs</a:t>
            </a:r>
            <a:r>
              <a:rPr lang="en-US" dirty="0"/>
              <a:t> </a:t>
            </a:r>
            <a:r>
              <a:rPr lang="en-US" dirty="0" err="1"/>
              <a:t>leképzés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 err="1"/>
              <a:t>Idegen</a:t>
            </a:r>
            <a:r>
              <a:rPr lang="en-US" dirty="0"/>
              <a:t> </a:t>
            </a:r>
            <a:r>
              <a:rPr lang="en-US" dirty="0" err="1"/>
              <a:t>kulcsok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Many-To-Many </a:t>
            </a:r>
            <a:r>
              <a:rPr lang="en-US" dirty="0" err="1"/>
              <a:t>kapcsolatok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077525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7305DF-B929-3FD1-3AC3-A2F83AD0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API és végpontok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BCA74B-14E2-AE60-A31A-449F128DB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610465"/>
            <a:ext cx="5705359" cy="2566497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en-US" dirty="0"/>
              <a:t>RESTful HTTP </a:t>
            </a:r>
            <a:r>
              <a:rPr lang="en-US" dirty="0" err="1"/>
              <a:t>metódusok</a:t>
            </a:r>
            <a:r>
              <a:rPr lang="en-US" dirty="0"/>
              <a:t> (GET, POST, PUT, DELETE)</a:t>
            </a:r>
          </a:p>
          <a:p>
            <a:pPr>
              <a:buFontTx/>
              <a:buChar char="-"/>
            </a:pPr>
            <a:r>
              <a:rPr lang="en-US" dirty="0"/>
              <a:t>DRF </a:t>
            </a:r>
            <a:r>
              <a:rPr lang="en-US" dirty="0" err="1"/>
              <a:t>Serializerek</a:t>
            </a:r>
            <a:r>
              <a:rPr lang="en-US" dirty="0"/>
              <a:t> </a:t>
            </a:r>
            <a:r>
              <a:rPr lang="en-US" dirty="0" err="1"/>
              <a:t>használata</a:t>
            </a:r>
            <a:r>
              <a:rPr lang="en-US" dirty="0"/>
              <a:t> a JSON </a:t>
            </a:r>
            <a:r>
              <a:rPr lang="en-US" dirty="0" err="1"/>
              <a:t>formátumhoz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en-US" dirty="0"/>
              <a:t> a frontend </a:t>
            </a:r>
            <a:r>
              <a:rPr lang="en-US" dirty="0" err="1"/>
              <a:t>és</a:t>
            </a:r>
            <a:r>
              <a:rPr lang="en-US" dirty="0"/>
              <a:t> backend </a:t>
            </a:r>
            <a:r>
              <a:rPr lang="en-US" dirty="0" err="1"/>
              <a:t>között</a:t>
            </a:r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B99A5D-E50A-4F81-BFBB-2C824E3F2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815" y="82559"/>
            <a:ext cx="3846646" cy="3346441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B2F16C-7DF1-4D39-9529-56DB21C93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309" y="82241"/>
            <a:ext cx="3846646" cy="3346759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108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81370656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233933-14A4-E72C-2A28-5DF242AFD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Reszponzivitás és Frontend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2C9592F-7145-3405-4343-6FC3EC6CF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5"/>
            <a:ext cx="6906491" cy="3509168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Vue.js 3 (Vite </a:t>
            </a:r>
            <a:r>
              <a:rPr lang="en-US" dirty="0" err="1"/>
              <a:t>alapokon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Bootstrap 5 </a:t>
            </a:r>
            <a:r>
              <a:rPr lang="en-US" dirty="0" err="1"/>
              <a:t>keretrendszer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"Minden </a:t>
            </a:r>
            <a:r>
              <a:rPr lang="en-US" dirty="0" err="1"/>
              <a:t>eszközre</a:t>
            </a:r>
            <a:r>
              <a:rPr lang="en-US" dirty="0"/>
              <a:t> </a:t>
            </a:r>
            <a:r>
              <a:rPr lang="en-US" dirty="0" err="1"/>
              <a:t>optimalizálva</a:t>
            </a:r>
            <a:r>
              <a:rPr lang="en-US" dirty="0"/>
              <a:t>" (Mobil, Tablet, PC)</a:t>
            </a:r>
          </a:p>
          <a:p>
            <a:pPr>
              <a:buFontTx/>
              <a:buChar char="-"/>
            </a:pPr>
            <a:r>
              <a:rPr lang="en-US" dirty="0"/>
              <a:t>Vue Router a </a:t>
            </a:r>
            <a:r>
              <a:rPr lang="en-US" dirty="0" err="1"/>
              <a:t>navigációhoz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Axios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hívásokhoz</a:t>
            </a:r>
            <a:r>
              <a:rPr lang="en-US" dirty="0"/>
              <a:t>, Vue-i18n a </a:t>
            </a:r>
            <a:r>
              <a:rPr lang="en-US" dirty="0" err="1"/>
              <a:t>lokalizációhoz</a:t>
            </a:r>
            <a:endParaRPr lang="en-US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D2F2581-868C-4476-9315-E6840A827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3801" y="4100512"/>
            <a:ext cx="2438400" cy="2438400"/>
          </a:xfrm>
          <a:prstGeom prst="rect">
            <a:avLst/>
          </a:prstGeom>
        </p:spPr>
      </p:pic>
      <p:pic>
        <p:nvPicPr>
          <p:cNvPr id="2052" name="Picture 4" descr="bootstrap-icons - npm">
            <a:extLst>
              <a:ext uri="{FF2B5EF4-FFF2-40B4-BE49-F238E27FC236}">
                <a16:creationId xmlns:a16="http://schemas.microsoft.com/office/drawing/2014/main" id="{FD05DBDD-2C19-431A-A2F5-96003BA41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201" y="4153069"/>
            <a:ext cx="2828226" cy="233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404517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5E63C58-6061-A32F-9C22-ADF0EED1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a-DK">
                <a:solidFill>
                  <a:srgbClr val="FFFFFF"/>
                </a:solidFill>
              </a:rPr>
              <a:t>Fejlesztői és E2E (End-to-End) tesztelés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71CFF0-4999-9BF7-2FBE-1B59059A3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3603285"/>
          </a:xfrm>
        </p:spPr>
        <p:txBody>
          <a:bodyPr anchor="ctr">
            <a:normAutofit lnSpcReduction="10000"/>
          </a:bodyPr>
          <a:lstStyle/>
          <a:p>
            <a:pPr>
              <a:buFontTx/>
              <a:buChar char="-"/>
            </a:pPr>
            <a:r>
              <a:rPr lang="hu-HU" dirty="0"/>
              <a:t>Backend tesztelés: </a:t>
            </a:r>
            <a:r>
              <a:rPr lang="hu-HU" dirty="0" err="1"/>
              <a:t>Django</a:t>
            </a:r>
            <a:r>
              <a:rPr lang="hu-HU" dirty="0"/>
              <a:t> beépített tesztjei (JSON Test </a:t>
            </a:r>
            <a:r>
              <a:rPr lang="hu-HU" dirty="0" err="1"/>
              <a:t>Runner</a:t>
            </a:r>
            <a:r>
              <a:rPr lang="hu-HU" dirty="0"/>
              <a:t>)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API végpontok automatikus ellenőrzése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E2E és UI tesztelés: Robot Framework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Böngészőautomatizálás </a:t>
            </a:r>
            <a:r>
              <a:rPr lang="hu-HU" dirty="0" err="1"/>
              <a:t>Selenium</a:t>
            </a:r>
            <a:r>
              <a:rPr lang="hu-HU" dirty="0"/>
              <a:t> segítségével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Funkciók teljeskörű, felhasználói szintű tesztelése</a:t>
            </a: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F489A47-D9F1-4F28-9A91-2FE18F590C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7234" y="4079082"/>
            <a:ext cx="2438400" cy="2438400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BE3D1EC-37CC-4C6C-9906-D5F291E92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1915" y="4339684"/>
            <a:ext cx="2104539" cy="2199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42637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D8253E-7B45-45A8-1868-692EA1B3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Helyszíni bemutató / Videó alapú bemutató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EE8C8C-41FB-145E-9F8E-9C058C57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eldöntés</a:t>
            </a:r>
            <a:r>
              <a:rPr lang="en-US" dirty="0"/>
              <a:t> </a:t>
            </a:r>
            <a:r>
              <a:rPr lang="en-US" dirty="0" err="1"/>
              <a:t>alatt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505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919FD-FE43-43ED-99B6-7CB54C1AB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</a:t>
            </a: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EA149B55-F0C2-476F-BFEB-37E68CEB04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0474955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</Words>
  <Application>Microsoft Office PowerPoint</Application>
  <PresentationFormat>Szélesvásznú</PresentationFormat>
  <Paragraphs>53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Office-téma</vt:lpstr>
      <vt:lpstr>PowerPoint-bemutató</vt:lpstr>
      <vt:lpstr>A probléma és a megoldás</vt:lpstr>
      <vt:lpstr>A program fő funkciói</vt:lpstr>
      <vt:lpstr>A program fő funkciói</vt:lpstr>
      <vt:lpstr>Backend technológiák</vt:lpstr>
      <vt:lpstr>Modellek és Adatbázis</vt:lpstr>
      <vt:lpstr>API és végpontok</vt:lpstr>
      <vt:lpstr>Reszponzivitás és Frontend</vt:lpstr>
      <vt:lpstr>Fejlesztői és E2E (End-to-End) tesztelés</vt:lpstr>
      <vt:lpstr>Helyszíni bemutató / Videó alapú bemutató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Imre Fesető</dc:creator>
  <cp:lastModifiedBy>Fesető Imre</cp:lastModifiedBy>
  <cp:revision>9</cp:revision>
  <dcterms:created xsi:type="dcterms:W3CDTF">2026-03-05T18:16:11Z</dcterms:created>
  <dcterms:modified xsi:type="dcterms:W3CDTF">2026-03-06T12:12:30Z</dcterms:modified>
</cp:coreProperties>
</file>